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imes New Roman" charset="1" panose="02020603050405020304"/>
      <p:regular r:id="rId18"/>
    </p:embeddedFont>
    <p:embeddedFont>
      <p:font typeface="Garet" charset="1" panose="00000000000000000000"/>
      <p:regular r:id="rId19"/>
    </p:embeddedFont>
    <p:embeddedFont>
      <p:font typeface="Canva Sans" charset="1" panose="020B0503030501040103"/>
      <p:regular r:id="rId20"/>
    </p:embeddedFont>
    <p:embeddedFont>
      <p:font typeface="Garet Bold" charset="1" panose="00000000000000000000"/>
      <p:regular r:id="rId21"/>
    </p:embeddedFont>
    <p:embeddedFont>
      <p:font typeface="Times New Roman MT" charset="1" panose="02030502070405020303"/>
      <p:regular r:id="rId22"/>
    </p:embeddedFont>
    <p:embeddedFont>
      <p:font typeface="Times New Roman Bold" charset="1" panose="020208030705050203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10965300" y="-84714"/>
            <a:ext cx="10371714" cy="1037171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10279363" y="2769564"/>
            <a:ext cx="6372983" cy="4747873"/>
          </a:xfrm>
          <a:custGeom>
            <a:avLst/>
            <a:gdLst/>
            <a:ahLst/>
            <a:cxnLst/>
            <a:rect r="r" b="b" t="t" l="l"/>
            <a:pathLst>
              <a:path h="4747873" w="6372983">
                <a:moveTo>
                  <a:pt x="0" y="0"/>
                </a:moveTo>
                <a:lnTo>
                  <a:pt x="6372984" y="0"/>
                </a:lnTo>
                <a:lnTo>
                  <a:pt x="6372984" y="4747872"/>
                </a:lnTo>
                <a:lnTo>
                  <a:pt x="0" y="4747872"/>
                </a:lnTo>
                <a:lnTo>
                  <a:pt x="0" y="0"/>
                </a:lnTo>
                <a:close/>
              </a:path>
            </a:pathLst>
          </a:custGeom>
          <a:blipFill>
            <a:blip r:embed="rId3"/>
            <a:stretch>
              <a:fillRect l="0" t="0" r="0" b="0"/>
            </a:stretch>
          </a:blipFill>
        </p:spPr>
      </p:sp>
      <p:grpSp>
        <p:nvGrpSpPr>
          <p:cNvPr name="Group 7" id="7"/>
          <p:cNvGrpSpPr/>
          <p:nvPr/>
        </p:nvGrpSpPr>
        <p:grpSpPr>
          <a:xfrm rot="10407285">
            <a:off x="-5710435" y="-188170"/>
            <a:ext cx="10371714" cy="1037171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704239" y="1683534"/>
            <a:ext cx="8439761" cy="4202398"/>
          </a:xfrm>
          <a:prstGeom prst="rect">
            <a:avLst/>
          </a:prstGeom>
        </p:spPr>
        <p:txBody>
          <a:bodyPr anchor="t" rtlCol="false" tIns="0" lIns="0" bIns="0" rIns="0">
            <a:spAutoFit/>
          </a:bodyPr>
          <a:lstStyle/>
          <a:p>
            <a:pPr algn="l" marL="0" indent="0" lvl="0">
              <a:lnSpc>
                <a:spcPts val="11185"/>
              </a:lnSpc>
              <a:spcBef>
                <a:spcPct val="0"/>
              </a:spcBef>
            </a:pPr>
            <a:r>
              <a:rPr lang="en-US" sz="7989" spc="-367">
                <a:solidFill>
                  <a:srgbClr val="EBF5FE"/>
                </a:solidFill>
                <a:latin typeface="Times New Roman"/>
                <a:ea typeface="Times New Roman"/>
                <a:cs typeface="Times New Roman"/>
                <a:sym typeface="Times New Roman"/>
              </a:rPr>
              <a:t>EMERGENCY EVACUATION PATH PLANNER</a:t>
            </a:r>
          </a:p>
        </p:txBody>
      </p:sp>
      <p:sp>
        <p:nvSpPr>
          <p:cNvPr name="TextBox 11" id="11"/>
          <p:cNvSpPr txBox="true"/>
          <p:nvPr/>
        </p:nvSpPr>
        <p:spPr>
          <a:xfrm rot="0">
            <a:off x="871252" y="6976026"/>
            <a:ext cx="5868017" cy="1016145"/>
          </a:xfrm>
          <a:prstGeom prst="rect">
            <a:avLst/>
          </a:prstGeom>
        </p:spPr>
        <p:txBody>
          <a:bodyPr anchor="t" rtlCol="false" tIns="0" lIns="0" bIns="0" rIns="0">
            <a:spAutoFit/>
          </a:bodyPr>
          <a:lstStyle/>
          <a:p>
            <a:pPr algn="ctr">
              <a:lnSpc>
                <a:spcPts val="4048"/>
              </a:lnSpc>
            </a:pPr>
            <a:r>
              <a:rPr lang="en-US" sz="2891" spc="-133">
                <a:solidFill>
                  <a:srgbClr val="EBF5FE"/>
                </a:solidFill>
                <a:latin typeface="Garet"/>
                <a:ea typeface="Garet"/>
                <a:cs typeface="Garet"/>
                <a:sym typeface="Garet"/>
              </a:rPr>
              <a:t>T. Sharon Rhoda - 2520040001</a:t>
            </a:r>
          </a:p>
          <a:p>
            <a:pPr algn="ctr">
              <a:lnSpc>
                <a:spcPts val="4048"/>
              </a:lnSpc>
              <a:spcBef>
                <a:spcPct val="0"/>
              </a:spcBef>
            </a:pPr>
            <a:r>
              <a:rPr lang="en-US" sz="2891" spc="-133">
                <a:solidFill>
                  <a:srgbClr val="EBF5FE"/>
                </a:solidFill>
                <a:latin typeface="Canva Sans"/>
                <a:ea typeface="Canva Sans"/>
                <a:cs typeface="Canva Sans"/>
                <a:sym typeface="Canva Sans"/>
              </a:rPr>
              <a:t>J. Krishna Chaithanya - 2520040049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10517729">
            <a:off x="-2903692" y="-84714"/>
            <a:ext cx="10371714" cy="1037171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37750" y="2243609"/>
            <a:ext cx="8157953" cy="5768462"/>
          </a:xfrm>
          <a:custGeom>
            <a:avLst/>
            <a:gdLst/>
            <a:ahLst/>
            <a:cxnLst/>
            <a:rect r="r" b="b" t="t" l="l"/>
            <a:pathLst>
              <a:path h="5768462" w="8157953">
                <a:moveTo>
                  <a:pt x="0" y="0"/>
                </a:moveTo>
                <a:lnTo>
                  <a:pt x="8157953" y="0"/>
                </a:lnTo>
                <a:lnTo>
                  <a:pt x="8157953" y="5768462"/>
                </a:lnTo>
                <a:lnTo>
                  <a:pt x="0" y="5768462"/>
                </a:lnTo>
                <a:lnTo>
                  <a:pt x="0" y="0"/>
                </a:lnTo>
                <a:close/>
              </a:path>
            </a:pathLst>
          </a:custGeom>
          <a:blipFill>
            <a:blip r:embed="rId2"/>
            <a:stretch>
              <a:fillRect l="0" t="0" r="0" b="0"/>
            </a:stretch>
          </a:blipFill>
        </p:spPr>
      </p:sp>
      <p:sp>
        <p:nvSpPr>
          <p:cNvPr name="Freeform 6" id="6"/>
          <p:cNvSpPr/>
          <p:nvPr/>
        </p:nvSpPr>
        <p:spPr>
          <a:xfrm flipH="false" flipV="false" rot="0">
            <a:off x="518443" y="3354298"/>
            <a:ext cx="5956026" cy="4108904"/>
          </a:xfrm>
          <a:custGeom>
            <a:avLst/>
            <a:gdLst/>
            <a:ahLst/>
            <a:cxnLst/>
            <a:rect r="r" b="b" t="t" l="l"/>
            <a:pathLst>
              <a:path h="4108904" w="5956026">
                <a:moveTo>
                  <a:pt x="0" y="0"/>
                </a:moveTo>
                <a:lnTo>
                  <a:pt x="5956026" y="0"/>
                </a:lnTo>
                <a:lnTo>
                  <a:pt x="5956026" y="4108904"/>
                </a:lnTo>
                <a:lnTo>
                  <a:pt x="0" y="4108904"/>
                </a:lnTo>
                <a:lnTo>
                  <a:pt x="0" y="0"/>
                </a:lnTo>
                <a:close/>
              </a:path>
            </a:pathLst>
          </a:custGeom>
          <a:blipFill>
            <a:blip r:embed="rId3"/>
            <a:stretch>
              <a:fillRect l="0" t="0" r="0" b="0"/>
            </a:stretch>
          </a:blipFill>
        </p:spPr>
      </p:sp>
      <p:grpSp>
        <p:nvGrpSpPr>
          <p:cNvPr name="Group 7" id="7"/>
          <p:cNvGrpSpPr/>
          <p:nvPr/>
        </p:nvGrpSpPr>
        <p:grpSpPr>
          <a:xfrm rot="0">
            <a:off x="8194870" y="4374632"/>
            <a:ext cx="9064430" cy="1094498"/>
            <a:chOff x="0" y="0"/>
            <a:chExt cx="3365731" cy="406400"/>
          </a:xfrm>
        </p:grpSpPr>
        <p:sp>
          <p:nvSpPr>
            <p:cNvPr name="Freeform 8" id="8"/>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9" id="9"/>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sp>
        <p:nvSpPr>
          <p:cNvPr name="TextBox 10" id="10"/>
          <p:cNvSpPr txBox="true"/>
          <p:nvPr/>
        </p:nvSpPr>
        <p:spPr>
          <a:xfrm rot="0">
            <a:off x="7488212" y="1347702"/>
            <a:ext cx="6642374" cy="1513885"/>
          </a:xfrm>
          <a:prstGeom prst="rect">
            <a:avLst/>
          </a:prstGeom>
        </p:spPr>
        <p:txBody>
          <a:bodyPr anchor="t" rtlCol="false" tIns="0" lIns="0" bIns="0" rIns="0">
            <a:spAutoFit/>
          </a:bodyPr>
          <a:lstStyle/>
          <a:p>
            <a:pPr algn="l" marL="0" indent="0" lvl="0">
              <a:lnSpc>
                <a:spcPts val="12543"/>
              </a:lnSpc>
              <a:spcBef>
                <a:spcPct val="0"/>
              </a:spcBef>
            </a:pPr>
            <a:r>
              <a:rPr lang="en-US" sz="8959" spc="-412">
                <a:solidFill>
                  <a:srgbClr val="EBF5FE"/>
                </a:solidFill>
                <a:latin typeface="Garet"/>
                <a:ea typeface="Garet"/>
                <a:cs typeface="Garet"/>
                <a:sym typeface="Garet"/>
              </a:rPr>
              <a:t>CONTENTS</a:t>
            </a:r>
          </a:p>
        </p:txBody>
      </p:sp>
      <p:grpSp>
        <p:nvGrpSpPr>
          <p:cNvPr name="Group 11" id="11"/>
          <p:cNvGrpSpPr/>
          <p:nvPr/>
        </p:nvGrpSpPr>
        <p:grpSpPr>
          <a:xfrm rot="0">
            <a:off x="8194870" y="5706515"/>
            <a:ext cx="9230355" cy="1094498"/>
            <a:chOff x="0" y="0"/>
            <a:chExt cx="3427341" cy="406400"/>
          </a:xfrm>
        </p:grpSpPr>
        <p:sp>
          <p:nvSpPr>
            <p:cNvPr name="Freeform 12" id="12"/>
            <p:cNvSpPr/>
            <p:nvPr/>
          </p:nvSpPr>
          <p:spPr>
            <a:xfrm flipH="false" flipV="false" rot="0">
              <a:off x="0" y="0"/>
              <a:ext cx="3427341" cy="406400"/>
            </a:xfrm>
            <a:custGeom>
              <a:avLst/>
              <a:gdLst/>
              <a:ahLst/>
              <a:cxnLst/>
              <a:rect r="r" b="b" t="t" l="l"/>
              <a:pathLst>
                <a:path h="406400" w="3427341">
                  <a:moveTo>
                    <a:pt x="3224141" y="0"/>
                  </a:moveTo>
                  <a:cubicBezTo>
                    <a:pt x="3336365" y="0"/>
                    <a:pt x="3427341" y="90976"/>
                    <a:pt x="3427341" y="203200"/>
                  </a:cubicBezTo>
                  <a:cubicBezTo>
                    <a:pt x="3427341" y="315424"/>
                    <a:pt x="3336365" y="406400"/>
                    <a:pt x="322414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3" id="13"/>
            <p:cNvSpPr txBox="true"/>
            <p:nvPr/>
          </p:nvSpPr>
          <p:spPr>
            <a:xfrm>
              <a:off x="0" y="-28575"/>
              <a:ext cx="3427341" cy="434975"/>
            </a:xfrm>
            <a:prstGeom prst="rect">
              <a:avLst/>
            </a:prstGeom>
          </p:spPr>
          <p:txBody>
            <a:bodyPr anchor="ctr" rtlCol="false" tIns="50800" lIns="50800" bIns="50800" rIns="50800"/>
            <a:lstStyle/>
            <a:p>
              <a:pPr algn="ctr" marL="0" indent="0" lvl="0">
                <a:lnSpc>
                  <a:spcPts val="2487"/>
                </a:lnSpc>
              </a:pPr>
            </a:p>
          </p:txBody>
        </p:sp>
      </p:grpSp>
      <p:grpSp>
        <p:nvGrpSpPr>
          <p:cNvPr name="Group 14" id="14"/>
          <p:cNvGrpSpPr/>
          <p:nvPr/>
        </p:nvGrpSpPr>
        <p:grpSpPr>
          <a:xfrm rot="0">
            <a:off x="8194870" y="6887695"/>
            <a:ext cx="9311877" cy="1124376"/>
            <a:chOff x="0" y="0"/>
            <a:chExt cx="3365731" cy="406400"/>
          </a:xfrm>
        </p:grpSpPr>
        <p:sp>
          <p:nvSpPr>
            <p:cNvPr name="Freeform 15" id="15"/>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6" id="16"/>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7" id="17"/>
          <p:cNvGrpSpPr/>
          <p:nvPr/>
        </p:nvGrpSpPr>
        <p:grpSpPr>
          <a:xfrm rot="0">
            <a:off x="8235606" y="8366101"/>
            <a:ext cx="9271141" cy="1119457"/>
            <a:chOff x="0" y="0"/>
            <a:chExt cx="3365731" cy="406400"/>
          </a:xfrm>
        </p:grpSpPr>
        <p:sp>
          <p:nvSpPr>
            <p:cNvPr name="Freeform 18" id="18"/>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9" id="19"/>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sp>
        <p:nvSpPr>
          <p:cNvPr name="TextBox 20" id="20"/>
          <p:cNvSpPr txBox="true"/>
          <p:nvPr/>
        </p:nvSpPr>
        <p:spPr>
          <a:xfrm rot="0">
            <a:off x="8754640" y="4399692"/>
            <a:ext cx="12021680" cy="939602"/>
          </a:xfrm>
          <a:prstGeom prst="rect">
            <a:avLst/>
          </a:prstGeom>
        </p:spPr>
        <p:txBody>
          <a:bodyPr anchor="t" rtlCol="false" tIns="0" lIns="0" bIns="0" rIns="0">
            <a:spAutoFit/>
          </a:bodyPr>
          <a:lstStyle/>
          <a:p>
            <a:pPr algn="l" marL="0" indent="0" lvl="0">
              <a:lnSpc>
                <a:spcPts val="7985"/>
              </a:lnSpc>
              <a:spcBef>
                <a:spcPct val="0"/>
              </a:spcBef>
            </a:pPr>
            <a:r>
              <a:rPr lang="en-US" b="true" sz="5704" spc="-262">
                <a:solidFill>
                  <a:srgbClr val="EBF5FE"/>
                </a:solidFill>
                <a:latin typeface="Garet Bold"/>
                <a:ea typeface="Garet Bold"/>
                <a:cs typeface="Garet Bold"/>
                <a:sym typeface="Garet Bold"/>
              </a:rPr>
              <a:t>Introduction</a:t>
            </a:r>
          </a:p>
        </p:txBody>
      </p:sp>
      <p:sp>
        <p:nvSpPr>
          <p:cNvPr name="TextBox 21" id="21"/>
          <p:cNvSpPr txBox="true"/>
          <p:nvPr/>
        </p:nvSpPr>
        <p:spPr>
          <a:xfrm rot="0">
            <a:off x="8754640" y="5815633"/>
            <a:ext cx="4485812" cy="698510"/>
          </a:xfrm>
          <a:prstGeom prst="rect">
            <a:avLst/>
          </a:prstGeom>
        </p:spPr>
        <p:txBody>
          <a:bodyPr anchor="t" rtlCol="false" tIns="0" lIns="0" bIns="0" rIns="0">
            <a:spAutoFit/>
          </a:bodyPr>
          <a:lstStyle/>
          <a:p>
            <a:pPr algn="l" marL="0" indent="0" lvl="0">
              <a:lnSpc>
                <a:spcPts val="5953"/>
              </a:lnSpc>
              <a:spcBef>
                <a:spcPct val="0"/>
              </a:spcBef>
            </a:pPr>
            <a:r>
              <a:rPr lang="en-US" b="true" sz="4252" spc="-195">
                <a:solidFill>
                  <a:srgbClr val="EBF5FE"/>
                </a:solidFill>
                <a:latin typeface="Garet Bold"/>
                <a:ea typeface="Garet Bold"/>
                <a:cs typeface="Garet Bold"/>
                <a:sym typeface="Garet Bold"/>
              </a:rPr>
              <a:t>System Analysis</a:t>
            </a:r>
          </a:p>
        </p:txBody>
      </p:sp>
      <p:sp>
        <p:nvSpPr>
          <p:cNvPr name="TextBox 22" id="22"/>
          <p:cNvSpPr txBox="true"/>
          <p:nvPr/>
        </p:nvSpPr>
        <p:spPr>
          <a:xfrm rot="0">
            <a:off x="8754640" y="7072625"/>
            <a:ext cx="8670585" cy="678315"/>
          </a:xfrm>
          <a:prstGeom prst="rect">
            <a:avLst/>
          </a:prstGeom>
        </p:spPr>
        <p:txBody>
          <a:bodyPr anchor="t" rtlCol="false" tIns="0" lIns="0" bIns="0" rIns="0">
            <a:spAutoFit/>
          </a:bodyPr>
          <a:lstStyle/>
          <a:p>
            <a:pPr algn="l" marL="0" indent="0" lvl="0">
              <a:lnSpc>
                <a:spcPts val="5759"/>
              </a:lnSpc>
              <a:spcBef>
                <a:spcPct val="0"/>
              </a:spcBef>
            </a:pPr>
            <a:r>
              <a:rPr lang="en-US" b="true" sz="4114" spc="-189">
                <a:solidFill>
                  <a:srgbClr val="EBF5FE"/>
                </a:solidFill>
                <a:latin typeface="Garet Bold"/>
                <a:ea typeface="Garet Bold"/>
                <a:cs typeface="Garet Bold"/>
                <a:sym typeface="Garet Bold"/>
              </a:rPr>
              <a:t>Working Process</a:t>
            </a:r>
          </a:p>
        </p:txBody>
      </p:sp>
      <p:sp>
        <p:nvSpPr>
          <p:cNvPr name="TextBox 23" id="23"/>
          <p:cNvSpPr txBox="true"/>
          <p:nvPr/>
        </p:nvSpPr>
        <p:spPr>
          <a:xfrm rot="0">
            <a:off x="8754640" y="8326396"/>
            <a:ext cx="2997819" cy="956895"/>
          </a:xfrm>
          <a:prstGeom prst="rect">
            <a:avLst/>
          </a:prstGeom>
        </p:spPr>
        <p:txBody>
          <a:bodyPr anchor="t" rtlCol="false" tIns="0" lIns="0" bIns="0" rIns="0">
            <a:spAutoFit/>
          </a:bodyPr>
          <a:lstStyle/>
          <a:p>
            <a:pPr algn="l" marL="0" indent="0" lvl="0">
              <a:lnSpc>
                <a:spcPts val="8151"/>
              </a:lnSpc>
              <a:spcBef>
                <a:spcPct val="0"/>
              </a:spcBef>
            </a:pPr>
            <a:r>
              <a:rPr lang="en-US" b="true" sz="5822" spc="-267">
                <a:solidFill>
                  <a:srgbClr val="EBF5FE"/>
                </a:solidFill>
                <a:latin typeface="Garet Bold"/>
                <a:ea typeface="Garet Bold"/>
                <a:cs typeface="Garet Bold"/>
                <a:sym typeface="Garet Bold"/>
              </a:rPr>
              <a:t>Results </a:t>
            </a:r>
          </a:p>
        </p:txBody>
      </p:sp>
      <p:grpSp>
        <p:nvGrpSpPr>
          <p:cNvPr name="Group 24" id="24"/>
          <p:cNvGrpSpPr/>
          <p:nvPr/>
        </p:nvGrpSpPr>
        <p:grpSpPr>
          <a:xfrm rot="0">
            <a:off x="14995352" y="4374632"/>
            <a:ext cx="2263948" cy="1094498"/>
            <a:chOff x="0" y="0"/>
            <a:chExt cx="947074" cy="457860"/>
          </a:xfrm>
        </p:grpSpPr>
        <p:sp>
          <p:nvSpPr>
            <p:cNvPr name="Freeform 25" id="25"/>
            <p:cNvSpPr/>
            <p:nvPr/>
          </p:nvSpPr>
          <p:spPr>
            <a:xfrm flipH="false" flipV="false" rot="0">
              <a:off x="0" y="0"/>
              <a:ext cx="947074" cy="457860"/>
            </a:xfrm>
            <a:custGeom>
              <a:avLst/>
              <a:gdLst/>
              <a:ahLst/>
              <a:cxnLst/>
              <a:rect r="r" b="b" t="t" l="l"/>
              <a:pathLst>
                <a:path h="457860" w="947074">
                  <a:moveTo>
                    <a:pt x="743874" y="0"/>
                  </a:moveTo>
                  <a:cubicBezTo>
                    <a:pt x="856098" y="0"/>
                    <a:pt x="947074" y="102495"/>
                    <a:pt x="947074" y="228930"/>
                  </a:cubicBezTo>
                  <a:cubicBezTo>
                    <a:pt x="947074" y="355364"/>
                    <a:pt x="856098" y="457860"/>
                    <a:pt x="743874" y="457860"/>
                  </a:cubicBezTo>
                  <a:lnTo>
                    <a:pt x="203200" y="457860"/>
                  </a:lnTo>
                  <a:cubicBezTo>
                    <a:pt x="90976" y="457860"/>
                    <a:pt x="0" y="355364"/>
                    <a:pt x="0" y="228930"/>
                  </a:cubicBezTo>
                  <a:cubicBezTo>
                    <a:pt x="0" y="102495"/>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6" id="26"/>
            <p:cNvSpPr txBox="true"/>
            <p:nvPr/>
          </p:nvSpPr>
          <p:spPr>
            <a:xfrm>
              <a:off x="0" y="-28575"/>
              <a:ext cx="947074" cy="486435"/>
            </a:xfrm>
            <a:prstGeom prst="rect">
              <a:avLst/>
            </a:prstGeom>
          </p:spPr>
          <p:txBody>
            <a:bodyPr anchor="ctr" rtlCol="false" tIns="50800" lIns="50800" bIns="50800" rIns="50800"/>
            <a:lstStyle/>
            <a:p>
              <a:pPr algn="ctr" marL="0" indent="0" lvl="0">
                <a:lnSpc>
                  <a:spcPts val="2487"/>
                </a:lnSpc>
              </a:pPr>
            </a:p>
          </p:txBody>
        </p:sp>
      </p:grpSp>
      <p:grpSp>
        <p:nvGrpSpPr>
          <p:cNvPr name="Group 27" id="27"/>
          <p:cNvGrpSpPr/>
          <p:nvPr/>
        </p:nvGrpSpPr>
        <p:grpSpPr>
          <a:xfrm rot="0">
            <a:off x="15164398" y="5706515"/>
            <a:ext cx="2260827" cy="1094498"/>
            <a:chOff x="0" y="0"/>
            <a:chExt cx="947074" cy="458492"/>
          </a:xfrm>
        </p:grpSpPr>
        <p:sp>
          <p:nvSpPr>
            <p:cNvPr name="Freeform 28" id="28"/>
            <p:cNvSpPr/>
            <p:nvPr/>
          </p:nvSpPr>
          <p:spPr>
            <a:xfrm flipH="false" flipV="false" rot="0">
              <a:off x="0" y="0"/>
              <a:ext cx="947074" cy="458492"/>
            </a:xfrm>
            <a:custGeom>
              <a:avLst/>
              <a:gdLst/>
              <a:ahLst/>
              <a:cxnLst/>
              <a:rect r="r" b="b" t="t" l="l"/>
              <a:pathLst>
                <a:path h="458492" w="947074">
                  <a:moveTo>
                    <a:pt x="743874" y="0"/>
                  </a:moveTo>
                  <a:cubicBezTo>
                    <a:pt x="856098" y="0"/>
                    <a:pt x="947074" y="102637"/>
                    <a:pt x="947074" y="229246"/>
                  </a:cubicBezTo>
                  <a:cubicBezTo>
                    <a:pt x="947074" y="355855"/>
                    <a:pt x="856098" y="458492"/>
                    <a:pt x="743874" y="458492"/>
                  </a:cubicBezTo>
                  <a:lnTo>
                    <a:pt x="203200" y="458492"/>
                  </a:lnTo>
                  <a:cubicBezTo>
                    <a:pt x="90976" y="458492"/>
                    <a:pt x="0" y="355855"/>
                    <a:pt x="0" y="229246"/>
                  </a:cubicBezTo>
                  <a:cubicBezTo>
                    <a:pt x="0" y="102637"/>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9" id="29"/>
            <p:cNvSpPr txBox="true"/>
            <p:nvPr/>
          </p:nvSpPr>
          <p:spPr>
            <a:xfrm>
              <a:off x="0" y="-28575"/>
              <a:ext cx="947074" cy="487067"/>
            </a:xfrm>
            <a:prstGeom prst="rect">
              <a:avLst/>
            </a:prstGeom>
          </p:spPr>
          <p:txBody>
            <a:bodyPr anchor="ctr" rtlCol="false" tIns="50800" lIns="50800" bIns="50800" rIns="50800"/>
            <a:lstStyle/>
            <a:p>
              <a:pPr algn="ctr" marL="0" indent="0" lvl="0">
                <a:lnSpc>
                  <a:spcPts val="2487"/>
                </a:lnSpc>
              </a:pPr>
            </a:p>
          </p:txBody>
        </p:sp>
      </p:grpSp>
      <p:grpSp>
        <p:nvGrpSpPr>
          <p:cNvPr name="Group 30" id="30"/>
          <p:cNvGrpSpPr/>
          <p:nvPr/>
        </p:nvGrpSpPr>
        <p:grpSpPr>
          <a:xfrm rot="0">
            <a:off x="15164398" y="6887695"/>
            <a:ext cx="2342349" cy="1070126"/>
            <a:chOff x="0" y="0"/>
            <a:chExt cx="889550" cy="406400"/>
          </a:xfrm>
        </p:grpSpPr>
        <p:sp>
          <p:nvSpPr>
            <p:cNvPr name="Freeform 31" id="31"/>
            <p:cNvSpPr/>
            <p:nvPr/>
          </p:nvSpPr>
          <p:spPr>
            <a:xfrm flipH="false" flipV="false" rot="0">
              <a:off x="0" y="0"/>
              <a:ext cx="889550" cy="406400"/>
            </a:xfrm>
            <a:custGeom>
              <a:avLst/>
              <a:gdLst/>
              <a:ahLst/>
              <a:cxnLst/>
              <a:rect r="r" b="b" t="t" l="l"/>
              <a:pathLst>
                <a:path h="406400" w="889550">
                  <a:moveTo>
                    <a:pt x="686350" y="0"/>
                  </a:moveTo>
                  <a:cubicBezTo>
                    <a:pt x="798574" y="0"/>
                    <a:pt x="889550" y="90976"/>
                    <a:pt x="889550" y="203200"/>
                  </a:cubicBezTo>
                  <a:cubicBezTo>
                    <a:pt x="889550" y="315424"/>
                    <a:pt x="798574" y="406400"/>
                    <a:pt x="68635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2" id="32"/>
            <p:cNvSpPr txBox="true"/>
            <p:nvPr/>
          </p:nvSpPr>
          <p:spPr>
            <a:xfrm>
              <a:off x="0" y="-28575"/>
              <a:ext cx="889550" cy="434975"/>
            </a:xfrm>
            <a:prstGeom prst="rect">
              <a:avLst/>
            </a:prstGeom>
          </p:spPr>
          <p:txBody>
            <a:bodyPr anchor="ctr" rtlCol="false" tIns="50800" lIns="50800" bIns="50800" rIns="50800"/>
            <a:lstStyle/>
            <a:p>
              <a:pPr algn="ctr" marL="0" indent="0" lvl="0">
                <a:lnSpc>
                  <a:spcPts val="2487"/>
                </a:lnSpc>
              </a:pPr>
            </a:p>
          </p:txBody>
        </p:sp>
      </p:grpSp>
      <p:grpSp>
        <p:nvGrpSpPr>
          <p:cNvPr name="Group 33" id="33"/>
          <p:cNvGrpSpPr/>
          <p:nvPr/>
        </p:nvGrpSpPr>
        <p:grpSpPr>
          <a:xfrm rot="0">
            <a:off x="15127281" y="8364496"/>
            <a:ext cx="2297945" cy="1121062"/>
            <a:chOff x="0" y="0"/>
            <a:chExt cx="986051" cy="481049"/>
          </a:xfrm>
        </p:grpSpPr>
        <p:sp>
          <p:nvSpPr>
            <p:cNvPr name="Freeform 34" id="34"/>
            <p:cNvSpPr/>
            <p:nvPr/>
          </p:nvSpPr>
          <p:spPr>
            <a:xfrm flipH="false" flipV="false" rot="0">
              <a:off x="0" y="0"/>
              <a:ext cx="986051" cy="481049"/>
            </a:xfrm>
            <a:custGeom>
              <a:avLst/>
              <a:gdLst/>
              <a:ahLst/>
              <a:cxnLst/>
              <a:rect r="r" b="b" t="t" l="l"/>
              <a:pathLst>
                <a:path h="481049" w="986051">
                  <a:moveTo>
                    <a:pt x="782851" y="0"/>
                  </a:moveTo>
                  <a:cubicBezTo>
                    <a:pt x="895075" y="0"/>
                    <a:pt x="986051" y="107687"/>
                    <a:pt x="986051" y="240525"/>
                  </a:cubicBezTo>
                  <a:cubicBezTo>
                    <a:pt x="986051" y="373363"/>
                    <a:pt x="895075" y="481049"/>
                    <a:pt x="782851" y="481049"/>
                  </a:cubicBezTo>
                  <a:lnTo>
                    <a:pt x="203200" y="481049"/>
                  </a:lnTo>
                  <a:cubicBezTo>
                    <a:pt x="90976" y="481049"/>
                    <a:pt x="0" y="373363"/>
                    <a:pt x="0" y="240525"/>
                  </a:cubicBezTo>
                  <a:cubicBezTo>
                    <a:pt x="0" y="107687"/>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5" id="35"/>
            <p:cNvSpPr txBox="true"/>
            <p:nvPr/>
          </p:nvSpPr>
          <p:spPr>
            <a:xfrm>
              <a:off x="0" y="-28575"/>
              <a:ext cx="986051" cy="509624"/>
            </a:xfrm>
            <a:prstGeom prst="rect">
              <a:avLst/>
            </a:prstGeom>
          </p:spPr>
          <p:txBody>
            <a:bodyPr anchor="ctr" rtlCol="false" tIns="50800" lIns="50800" bIns="50800" rIns="50800"/>
            <a:lstStyle/>
            <a:p>
              <a:pPr algn="ctr" marL="0" indent="0" lvl="0">
                <a:lnSpc>
                  <a:spcPts val="2487"/>
                </a:lnSpc>
              </a:pPr>
            </a:p>
          </p:txBody>
        </p:sp>
      </p:grpSp>
      <p:sp>
        <p:nvSpPr>
          <p:cNvPr name="TextBox 36" id="36"/>
          <p:cNvSpPr txBox="true"/>
          <p:nvPr/>
        </p:nvSpPr>
        <p:spPr>
          <a:xfrm rot="0">
            <a:off x="13240452" y="4853995"/>
            <a:ext cx="890134" cy="255833"/>
          </a:xfrm>
          <a:prstGeom prst="rect">
            <a:avLst/>
          </a:prstGeom>
        </p:spPr>
        <p:txBody>
          <a:bodyPr anchor="t" rtlCol="false" tIns="0" lIns="0" bIns="0" rIns="0">
            <a:spAutoFit/>
          </a:bodyPr>
          <a:lstStyle/>
          <a:p>
            <a:pPr algn="ctr" marL="0" indent="0" lvl="0">
              <a:lnSpc>
                <a:spcPts val="2173"/>
              </a:lnSpc>
              <a:spcBef>
                <a:spcPct val="0"/>
              </a:spcBef>
            </a:pPr>
          </a:p>
        </p:txBody>
      </p:sp>
      <p:sp>
        <p:nvSpPr>
          <p:cNvPr name="TextBox 37" id="37"/>
          <p:cNvSpPr txBox="true"/>
          <p:nvPr/>
        </p:nvSpPr>
        <p:spPr>
          <a:xfrm rot="0">
            <a:off x="13240452" y="5863258"/>
            <a:ext cx="890134" cy="255833"/>
          </a:xfrm>
          <a:prstGeom prst="rect">
            <a:avLst/>
          </a:prstGeom>
        </p:spPr>
        <p:txBody>
          <a:bodyPr anchor="t" rtlCol="false" tIns="0" lIns="0" bIns="0" rIns="0">
            <a:spAutoFit/>
          </a:bodyPr>
          <a:lstStyle/>
          <a:p>
            <a:pPr algn="ctr" marL="0" indent="0" lvl="0">
              <a:lnSpc>
                <a:spcPts val="2173"/>
              </a:lnSpc>
              <a:spcBef>
                <a:spcPct val="0"/>
              </a:spcBef>
            </a:pPr>
          </a:p>
        </p:txBody>
      </p:sp>
      <p:sp>
        <p:nvSpPr>
          <p:cNvPr name="TextBox 38" id="38"/>
          <p:cNvSpPr txBox="true"/>
          <p:nvPr/>
        </p:nvSpPr>
        <p:spPr>
          <a:xfrm rot="0">
            <a:off x="13240452" y="6958596"/>
            <a:ext cx="890134" cy="255833"/>
          </a:xfrm>
          <a:prstGeom prst="rect">
            <a:avLst/>
          </a:prstGeom>
        </p:spPr>
        <p:txBody>
          <a:bodyPr anchor="t" rtlCol="false" tIns="0" lIns="0" bIns="0" rIns="0">
            <a:spAutoFit/>
          </a:bodyPr>
          <a:lstStyle/>
          <a:p>
            <a:pPr algn="ctr" marL="0" indent="0" lvl="0">
              <a:lnSpc>
                <a:spcPts val="2173"/>
              </a:lnSpc>
              <a:spcBef>
                <a:spcPct val="0"/>
              </a:spcBef>
            </a:pPr>
          </a:p>
        </p:txBody>
      </p:sp>
      <p:sp>
        <p:nvSpPr>
          <p:cNvPr name="TextBox 39" id="39"/>
          <p:cNvSpPr txBox="true"/>
          <p:nvPr/>
        </p:nvSpPr>
        <p:spPr>
          <a:xfrm rot="0">
            <a:off x="13240452" y="7872143"/>
            <a:ext cx="890134" cy="255833"/>
          </a:xfrm>
          <a:prstGeom prst="rect">
            <a:avLst/>
          </a:prstGeom>
        </p:spPr>
        <p:txBody>
          <a:bodyPr anchor="t" rtlCol="false" tIns="0" lIns="0" bIns="0" rIns="0">
            <a:spAutoFit/>
          </a:bodyPr>
          <a:lstStyle/>
          <a:p>
            <a:pPr algn="ctr" marL="0" indent="0" lvl="0">
              <a:lnSpc>
                <a:spcPts val="2173"/>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10517729">
            <a:off x="-2903692" y="-84714"/>
            <a:ext cx="10371714" cy="1037171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477246" y="2557778"/>
            <a:ext cx="4492692" cy="5171444"/>
          </a:xfrm>
          <a:custGeom>
            <a:avLst/>
            <a:gdLst/>
            <a:ahLst/>
            <a:cxnLst/>
            <a:rect r="r" b="b" t="t" l="l"/>
            <a:pathLst>
              <a:path h="5171444" w="4492692">
                <a:moveTo>
                  <a:pt x="0" y="0"/>
                </a:moveTo>
                <a:lnTo>
                  <a:pt x="4492692" y="0"/>
                </a:lnTo>
                <a:lnTo>
                  <a:pt x="4492692" y="5171444"/>
                </a:lnTo>
                <a:lnTo>
                  <a:pt x="0" y="5171444"/>
                </a:lnTo>
                <a:lnTo>
                  <a:pt x="0" y="0"/>
                </a:lnTo>
                <a:close/>
              </a:path>
            </a:pathLst>
          </a:custGeom>
          <a:blipFill>
            <a:blip r:embed="rId2"/>
            <a:stretch>
              <a:fillRect l="0" t="0" r="0" b="0"/>
            </a:stretch>
          </a:blipFill>
        </p:spPr>
      </p:sp>
      <p:sp>
        <p:nvSpPr>
          <p:cNvPr name="Freeform 6" id="6"/>
          <p:cNvSpPr/>
          <p:nvPr/>
        </p:nvSpPr>
        <p:spPr>
          <a:xfrm flipH="false" flipV="false" rot="0">
            <a:off x="2534210" y="3629972"/>
            <a:ext cx="5580253" cy="3787597"/>
          </a:xfrm>
          <a:custGeom>
            <a:avLst/>
            <a:gdLst/>
            <a:ahLst/>
            <a:cxnLst/>
            <a:rect r="r" b="b" t="t" l="l"/>
            <a:pathLst>
              <a:path h="3787597" w="5580253">
                <a:moveTo>
                  <a:pt x="0" y="0"/>
                </a:moveTo>
                <a:lnTo>
                  <a:pt x="5580253" y="0"/>
                </a:lnTo>
                <a:lnTo>
                  <a:pt x="5580253" y="3787596"/>
                </a:lnTo>
                <a:lnTo>
                  <a:pt x="0" y="3787596"/>
                </a:lnTo>
                <a:lnTo>
                  <a:pt x="0" y="0"/>
                </a:lnTo>
                <a:close/>
              </a:path>
            </a:pathLst>
          </a:custGeom>
          <a:blipFill>
            <a:blip r:embed="rId3"/>
            <a:stretch>
              <a:fillRect l="0" t="0" r="0" b="0"/>
            </a:stretch>
          </a:blipFill>
        </p:spPr>
      </p:sp>
      <p:sp>
        <p:nvSpPr>
          <p:cNvPr name="TextBox 7" id="7"/>
          <p:cNvSpPr txBox="true"/>
          <p:nvPr/>
        </p:nvSpPr>
        <p:spPr>
          <a:xfrm rot="0">
            <a:off x="16070360" y="8854139"/>
            <a:ext cx="1188940" cy="291104"/>
          </a:xfrm>
          <a:prstGeom prst="rect">
            <a:avLst/>
          </a:prstGeom>
        </p:spPr>
        <p:txBody>
          <a:bodyPr anchor="t" rtlCol="false" tIns="0" lIns="0" bIns="0" rIns="0">
            <a:spAutoFit/>
          </a:bodyPr>
          <a:lstStyle/>
          <a:p>
            <a:pPr algn="l" marL="0" indent="0" lvl="0">
              <a:lnSpc>
                <a:spcPts val="2329"/>
              </a:lnSpc>
              <a:spcBef>
                <a:spcPct val="0"/>
              </a:spcBef>
            </a:pPr>
            <a:r>
              <a:rPr lang="en-US" sz="1664" spc="-76">
                <a:solidFill>
                  <a:srgbClr val="EBF5FE"/>
                </a:solidFill>
                <a:latin typeface="Garet"/>
                <a:ea typeface="Garet"/>
                <a:cs typeface="Garet"/>
                <a:sym typeface="Garet"/>
              </a:rPr>
              <a:t>page 003</a:t>
            </a:r>
          </a:p>
        </p:txBody>
      </p:sp>
      <p:sp>
        <p:nvSpPr>
          <p:cNvPr name="TextBox 8" id="8"/>
          <p:cNvSpPr txBox="true"/>
          <p:nvPr/>
        </p:nvSpPr>
        <p:spPr>
          <a:xfrm rot="0">
            <a:off x="7875878" y="560130"/>
            <a:ext cx="9542736" cy="1589205"/>
          </a:xfrm>
          <a:prstGeom prst="rect">
            <a:avLst/>
          </a:prstGeom>
        </p:spPr>
        <p:txBody>
          <a:bodyPr anchor="t" rtlCol="false" tIns="0" lIns="0" bIns="0" rIns="0">
            <a:spAutoFit/>
          </a:bodyPr>
          <a:lstStyle/>
          <a:p>
            <a:pPr algn="l" marL="0" indent="0" lvl="0">
              <a:lnSpc>
                <a:spcPts val="13064"/>
              </a:lnSpc>
              <a:spcBef>
                <a:spcPct val="0"/>
              </a:spcBef>
            </a:pPr>
            <a:r>
              <a:rPr lang="en-US" sz="9331" spc="-429">
                <a:solidFill>
                  <a:srgbClr val="EBF5FE"/>
                </a:solidFill>
                <a:latin typeface="Garet"/>
                <a:ea typeface="Garet"/>
                <a:cs typeface="Garet"/>
                <a:sym typeface="Garet"/>
              </a:rPr>
              <a:t>INTRODUCTION</a:t>
            </a:r>
          </a:p>
        </p:txBody>
      </p:sp>
      <p:sp>
        <p:nvSpPr>
          <p:cNvPr name="TextBox 9" id="9"/>
          <p:cNvSpPr txBox="true"/>
          <p:nvPr/>
        </p:nvSpPr>
        <p:spPr>
          <a:xfrm rot="0">
            <a:off x="8365169" y="2687657"/>
            <a:ext cx="9444765" cy="6000056"/>
          </a:xfrm>
          <a:prstGeom prst="rect">
            <a:avLst/>
          </a:prstGeom>
        </p:spPr>
        <p:txBody>
          <a:bodyPr anchor="t" rtlCol="false" tIns="0" lIns="0" bIns="0" rIns="0">
            <a:spAutoFit/>
          </a:bodyPr>
          <a:lstStyle/>
          <a:p>
            <a:pPr algn="just" marL="0" indent="0" lvl="0">
              <a:lnSpc>
                <a:spcPts val="4006"/>
              </a:lnSpc>
              <a:spcBef>
                <a:spcPct val="0"/>
              </a:spcBef>
            </a:pPr>
            <a:r>
              <a:rPr lang="en-US" sz="2861" spc="-131">
                <a:solidFill>
                  <a:srgbClr val="EBF5FE"/>
                </a:solidFill>
                <a:latin typeface="Times New Roman MT"/>
                <a:ea typeface="Times New Roman MT"/>
                <a:cs typeface="Times New Roman MT"/>
                <a:sym typeface="Times New Roman MT"/>
              </a:rPr>
              <a:t>Emergency evacuation systems are critical for safeguarding lives during crises such as fires, earthquakes, and security threats. Traditional evacuation relies on static signage and predetermined routes that cannot adapt to real-time conditions. When exits become blocked or hazards spread, these fixed paths may lead occupants into danger rather than safety. This project addresses these limitations through intelligent, dynamic path planning that responds to changing emergency conditions in real-time. By leveraging graph-based building representations and advanced pathfinding algorithms including Dijkstra's Algorithm, A* Search, and Breadth-First Search, our system calculates optimal evacuation routes instantly and continuously updates guidance as situations evolve.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548354">
            <a:off x="10695521" y="-42357"/>
            <a:ext cx="10371714" cy="1037171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4028596" y="2165801"/>
            <a:ext cx="3357007" cy="3820207"/>
          </a:xfrm>
          <a:custGeom>
            <a:avLst/>
            <a:gdLst/>
            <a:ahLst/>
            <a:cxnLst/>
            <a:rect r="r" b="b" t="t" l="l"/>
            <a:pathLst>
              <a:path h="3820207" w="3357007">
                <a:moveTo>
                  <a:pt x="0" y="0"/>
                </a:moveTo>
                <a:lnTo>
                  <a:pt x="3357007" y="0"/>
                </a:lnTo>
                <a:lnTo>
                  <a:pt x="3357007" y="3820207"/>
                </a:lnTo>
                <a:lnTo>
                  <a:pt x="0" y="3820207"/>
                </a:lnTo>
                <a:lnTo>
                  <a:pt x="0" y="0"/>
                </a:lnTo>
                <a:close/>
              </a:path>
            </a:pathLst>
          </a:custGeom>
          <a:blipFill>
            <a:blip r:embed="rId3"/>
            <a:stretch>
              <a:fillRect l="0" t="0" r="0" b="0"/>
            </a:stretch>
          </a:blipFill>
        </p:spPr>
      </p:sp>
      <p:sp>
        <p:nvSpPr>
          <p:cNvPr name="Freeform 7" id="7"/>
          <p:cNvSpPr/>
          <p:nvPr/>
        </p:nvSpPr>
        <p:spPr>
          <a:xfrm flipH="false" flipV="false" rot="0">
            <a:off x="1235476" y="3371583"/>
            <a:ext cx="6393051" cy="4459153"/>
          </a:xfrm>
          <a:custGeom>
            <a:avLst/>
            <a:gdLst/>
            <a:ahLst/>
            <a:cxnLst/>
            <a:rect r="r" b="b" t="t" l="l"/>
            <a:pathLst>
              <a:path h="4459153" w="6393051">
                <a:moveTo>
                  <a:pt x="0" y="0"/>
                </a:moveTo>
                <a:lnTo>
                  <a:pt x="6393051" y="0"/>
                </a:lnTo>
                <a:lnTo>
                  <a:pt x="6393051" y="4459153"/>
                </a:lnTo>
                <a:lnTo>
                  <a:pt x="0" y="4459153"/>
                </a:lnTo>
                <a:lnTo>
                  <a:pt x="0" y="0"/>
                </a:lnTo>
                <a:close/>
              </a:path>
            </a:pathLst>
          </a:custGeom>
          <a:blipFill>
            <a:blip r:embed="rId4"/>
            <a:stretch>
              <a:fillRect l="0" t="0" r="0" b="0"/>
            </a:stretch>
          </a:blipFill>
        </p:spPr>
      </p:sp>
      <p:sp>
        <p:nvSpPr>
          <p:cNvPr name="Freeform 8" id="8"/>
          <p:cNvSpPr/>
          <p:nvPr/>
        </p:nvSpPr>
        <p:spPr>
          <a:xfrm flipH="false" flipV="false" rot="0">
            <a:off x="-149981" y="2928672"/>
            <a:ext cx="4261557" cy="4955298"/>
          </a:xfrm>
          <a:custGeom>
            <a:avLst/>
            <a:gdLst/>
            <a:ahLst/>
            <a:cxnLst/>
            <a:rect r="r" b="b" t="t" l="l"/>
            <a:pathLst>
              <a:path h="4955298" w="4261557">
                <a:moveTo>
                  <a:pt x="0" y="0"/>
                </a:moveTo>
                <a:lnTo>
                  <a:pt x="4261557" y="0"/>
                </a:lnTo>
                <a:lnTo>
                  <a:pt x="4261557" y="4955298"/>
                </a:lnTo>
                <a:lnTo>
                  <a:pt x="0" y="4955298"/>
                </a:lnTo>
                <a:lnTo>
                  <a:pt x="0" y="0"/>
                </a:lnTo>
                <a:close/>
              </a:path>
            </a:pathLst>
          </a:custGeom>
          <a:blipFill>
            <a:blip r:embed="rId5"/>
            <a:stretch>
              <a:fillRect l="0" t="0" r="0" b="0"/>
            </a:stretch>
          </a:blipFill>
        </p:spPr>
      </p:sp>
      <p:sp>
        <p:nvSpPr>
          <p:cNvPr name="TextBox 9" id="9"/>
          <p:cNvSpPr txBox="true"/>
          <p:nvPr/>
        </p:nvSpPr>
        <p:spPr>
          <a:xfrm rot="0">
            <a:off x="16070360" y="8854139"/>
            <a:ext cx="1188940" cy="298739"/>
          </a:xfrm>
          <a:prstGeom prst="rect">
            <a:avLst/>
          </a:prstGeom>
        </p:spPr>
        <p:txBody>
          <a:bodyPr anchor="t" rtlCol="false" tIns="0" lIns="0" bIns="0" rIns="0">
            <a:spAutoFit/>
          </a:bodyPr>
          <a:lstStyle/>
          <a:p>
            <a:pPr algn="l" marL="0" indent="0" lvl="0">
              <a:lnSpc>
                <a:spcPts val="2434"/>
              </a:lnSpc>
              <a:spcBef>
                <a:spcPct val="0"/>
              </a:spcBef>
            </a:pPr>
            <a:r>
              <a:rPr lang="en-US" sz="1738" spc="-79">
                <a:solidFill>
                  <a:srgbClr val="EBF5FE"/>
                </a:solidFill>
                <a:latin typeface="Garet"/>
                <a:ea typeface="Garet"/>
                <a:cs typeface="Garet"/>
                <a:sym typeface="Garet"/>
              </a:rPr>
              <a:t>page 04</a:t>
            </a:r>
          </a:p>
        </p:txBody>
      </p:sp>
      <p:sp>
        <p:nvSpPr>
          <p:cNvPr name="TextBox 10" id="10"/>
          <p:cNvSpPr txBox="true"/>
          <p:nvPr/>
        </p:nvSpPr>
        <p:spPr>
          <a:xfrm rot="0">
            <a:off x="8005888" y="1093925"/>
            <a:ext cx="7875490" cy="1281896"/>
          </a:xfrm>
          <a:prstGeom prst="rect">
            <a:avLst/>
          </a:prstGeom>
        </p:spPr>
        <p:txBody>
          <a:bodyPr anchor="t" rtlCol="false" tIns="0" lIns="0" bIns="0" rIns="0">
            <a:spAutoFit/>
          </a:bodyPr>
          <a:lstStyle/>
          <a:p>
            <a:pPr algn="l" marL="0" indent="0" lvl="0">
              <a:lnSpc>
                <a:spcPts val="10566"/>
              </a:lnSpc>
              <a:spcBef>
                <a:spcPct val="0"/>
              </a:spcBef>
            </a:pPr>
            <a:r>
              <a:rPr lang="en-US" sz="7547" spc="-347">
                <a:solidFill>
                  <a:srgbClr val="EBF5FE"/>
                </a:solidFill>
                <a:latin typeface="Garet"/>
                <a:ea typeface="Garet"/>
                <a:cs typeface="Garet"/>
                <a:sym typeface="Garet"/>
              </a:rPr>
              <a:t>ABSTRACT</a:t>
            </a:r>
          </a:p>
        </p:txBody>
      </p:sp>
      <p:sp>
        <p:nvSpPr>
          <p:cNvPr name="TextBox 11" id="11"/>
          <p:cNvSpPr txBox="true"/>
          <p:nvPr/>
        </p:nvSpPr>
        <p:spPr>
          <a:xfrm rot="0">
            <a:off x="7816428" y="2633466"/>
            <a:ext cx="10156591" cy="5702777"/>
          </a:xfrm>
          <a:prstGeom prst="rect">
            <a:avLst/>
          </a:prstGeom>
        </p:spPr>
        <p:txBody>
          <a:bodyPr anchor="t" rtlCol="false" tIns="0" lIns="0" bIns="0" rIns="0">
            <a:spAutoFit/>
          </a:bodyPr>
          <a:lstStyle/>
          <a:p>
            <a:pPr algn="just" marL="0" indent="0" lvl="0">
              <a:lnSpc>
                <a:spcPts val="4059"/>
              </a:lnSpc>
              <a:spcBef>
                <a:spcPct val="0"/>
              </a:spcBef>
            </a:pPr>
            <a:r>
              <a:rPr lang="en-US" sz="2899" spc="-133">
                <a:solidFill>
                  <a:srgbClr val="EBF5FE"/>
                </a:solidFill>
                <a:latin typeface="Times New Roman MT"/>
                <a:ea typeface="Times New Roman MT"/>
                <a:cs typeface="Times New Roman MT"/>
                <a:sym typeface="Times New Roman MT"/>
              </a:rPr>
              <a:t>This project presents an intelligent evacuation system designed to ensure safe and efficient building evacuation during emergencies such as fires, earthquakes, and security threats. The system represents building layouts as graph data structures, enabling dynamic path planning through interconnected nodes and edges. Utilizing advanced pathfinding algorithms including Dijkstra's Algorithm and A* Search, the system calculates optimal evacuation routes in real-time. When hazards are detected or exits become blocked, routes are instantly recalculated to guide occupants to the nearest safe exit. Key objectives include faster evacuation times, enhanced occupant safety, and reduced congestion through multiple exit options and adaptive routing capabilities.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070360" y="8854139"/>
            <a:ext cx="1188940" cy="307319"/>
          </a:xfrm>
          <a:prstGeom prst="rect">
            <a:avLst/>
          </a:prstGeom>
        </p:spPr>
        <p:txBody>
          <a:bodyPr anchor="t" rtlCol="false" tIns="0" lIns="0" bIns="0" rIns="0">
            <a:spAutoFit/>
          </a:bodyPr>
          <a:lstStyle/>
          <a:p>
            <a:pPr algn="l" marL="0" indent="0" lvl="0">
              <a:lnSpc>
                <a:spcPts val="2486"/>
              </a:lnSpc>
              <a:spcBef>
                <a:spcPct val="0"/>
              </a:spcBef>
            </a:pPr>
            <a:r>
              <a:rPr lang="en-US" sz="1775" spc="-81">
                <a:solidFill>
                  <a:srgbClr val="EBF5FE"/>
                </a:solidFill>
                <a:latin typeface="Garet"/>
                <a:ea typeface="Garet"/>
                <a:cs typeface="Garet"/>
                <a:sym typeface="Garet"/>
              </a:rPr>
              <a:t>page 007</a:t>
            </a:r>
          </a:p>
        </p:txBody>
      </p:sp>
      <p:sp>
        <p:nvSpPr>
          <p:cNvPr name="TextBox 4" id="4"/>
          <p:cNvSpPr txBox="true"/>
          <p:nvPr/>
        </p:nvSpPr>
        <p:spPr>
          <a:xfrm rot="0">
            <a:off x="5210187" y="292999"/>
            <a:ext cx="8334707" cy="1898757"/>
          </a:xfrm>
          <a:prstGeom prst="rect">
            <a:avLst/>
          </a:prstGeom>
        </p:spPr>
        <p:txBody>
          <a:bodyPr anchor="t" rtlCol="false" tIns="0" lIns="0" bIns="0" rIns="0">
            <a:spAutoFit/>
          </a:bodyPr>
          <a:lstStyle/>
          <a:p>
            <a:pPr algn="ctr" marL="0" indent="0" lvl="0">
              <a:lnSpc>
                <a:spcPts val="15670"/>
              </a:lnSpc>
              <a:spcBef>
                <a:spcPct val="0"/>
              </a:spcBef>
            </a:pPr>
            <a:r>
              <a:rPr lang="en-US" sz="11193" spc="-514">
                <a:solidFill>
                  <a:srgbClr val="EBF5FE"/>
                </a:solidFill>
                <a:latin typeface="Garet"/>
                <a:ea typeface="Garet"/>
                <a:cs typeface="Garet"/>
                <a:sym typeface="Garet"/>
              </a:rPr>
              <a:t>HARDWARE</a:t>
            </a:r>
          </a:p>
        </p:txBody>
      </p:sp>
      <p:sp>
        <p:nvSpPr>
          <p:cNvPr name="TextBox 5" id="5"/>
          <p:cNvSpPr txBox="true"/>
          <p:nvPr/>
        </p:nvSpPr>
        <p:spPr>
          <a:xfrm rot="0">
            <a:off x="5210187" y="2250206"/>
            <a:ext cx="8068073" cy="1300366"/>
          </a:xfrm>
          <a:prstGeom prst="rect">
            <a:avLst/>
          </a:prstGeom>
        </p:spPr>
        <p:txBody>
          <a:bodyPr anchor="t" rtlCol="false" tIns="0" lIns="0" bIns="0" rIns="0">
            <a:spAutoFit/>
          </a:bodyPr>
          <a:lstStyle/>
          <a:p>
            <a:pPr algn="ctr" marL="0" indent="0" lvl="0">
              <a:lnSpc>
                <a:spcPts val="10738"/>
              </a:lnSpc>
              <a:spcBef>
                <a:spcPct val="0"/>
              </a:spcBef>
            </a:pPr>
            <a:r>
              <a:rPr lang="en-US" b="true" sz="7670" spc="-352">
                <a:solidFill>
                  <a:srgbClr val="EBF5FE"/>
                </a:solidFill>
                <a:latin typeface="Garet Bold"/>
                <a:ea typeface="Garet Bold"/>
                <a:cs typeface="Garet Bold"/>
                <a:sym typeface="Garet Bold"/>
              </a:rPr>
              <a:t>REQUIREMENTS</a:t>
            </a:r>
          </a:p>
        </p:txBody>
      </p:sp>
      <p:grpSp>
        <p:nvGrpSpPr>
          <p:cNvPr name="Group 6" id="6"/>
          <p:cNvGrpSpPr/>
          <p:nvPr/>
        </p:nvGrpSpPr>
        <p:grpSpPr>
          <a:xfrm rot="0">
            <a:off x="2548247" y="4253282"/>
            <a:ext cx="6389629" cy="771525"/>
            <a:chOff x="0" y="0"/>
            <a:chExt cx="3365731" cy="406400"/>
          </a:xfrm>
        </p:grpSpPr>
        <p:sp>
          <p:nvSpPr>
            <p:cNvPr name="Freeform 7" id="7"/>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8" id="8"/>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9" id="9"/>
          <p:cNvGrpSpPr/>
          <p:nvPr/>
        </p:nvGrpSpPr>
        <p:grpSpPr>
          <a:xfrm rot="0">
            <a:off x="2548247" y="7086665"/>
            <a:ext cx="6389629" cy="771525"/>
            <a:chOff x="0" y="0"/>
            <a:chExt cx="3365731" cy="406400"/>
          </a:xfrm>
        </p:grpSpPr>
        <p:sp>
          <p:nvSpPr>
            <p:cNvPr name="Freeform 10" id="10"/>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1" id="11"/>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2" id="12"/>
          <p:cNvGrpSpPr/>
          <p:nvPr/>
        </p:nvGrpSpPr>
        <p:grpSpPr>
          <a:xfrm rot="0">
            <a:off x="9377541" y="4253282"/>
            <a:ext cx="6389629" cy="771525"/>
            <a:chOff x="0" y="0"/>
            <a:chExt cx="3365731" cy="406400"/>
          </a:xfrm>
        </p:grpSpPr>
        <p:sp>
          <p:nvSpPr>
            <p:cNvPr name="Freeform 13" id="13"/>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4" id="14"/>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5" id="15"/>
          <p:cNvGrpSpPr/>
          <p:nvPr/>
        </p:nvGrpSpPr>
        <p:grpSpPr>
          <a:xfrm rot="0">
            <a:off x="9377541" y="7142621"/>
            <a:ext cx="6389629" cy="771525"/>
            <a:chOff x="0" y="0"/>
            <a:chExt cx="3365731" cy="406400"/>
          </a:xfrm>
        </p:grpSpPr>
        <p:sp>
          <p:nvSpPr>
            <p:cNvPr name="Freeform 16" id="16"/>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7" id="17"/>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sp>
        <p:nvSpPr>
          <p:cNvPr name="TextBox 18" id="18"/>
          <p:cNvSpPr txBox="true"/>
          <p:nvPr/>
        </p:nvSpPr>
        <p:spPr>
          <a:xfrm rot="0">
            <a:off x="3061824" y="4391715"/>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Processor (Intel i3/i5+)</a:t>
            </a:r>
          </a:p>
        </p:txBody>
      </p:sp>
      <p:grpSp>
        <p:nvGrpSpPr>
          <p:cNvPr name="Group 19" id="19"/>
          <p:cNvGrpSpPr/>
          <p:nvPr/>
        </p:nvGrpSpPr>
        <p:grpSpPr>
          <a:xfrm rot="0">
            <a:off x="7139915" y="4253282"/>
            <a:ext cx="1797961" cy="771525"/>
            <a:chOff x="0" y="0"/>
            <a:chExt cx="947074" cy="406400"/>
          </a:xfrm>
        </p:grpSpPr>
        <p:sp>
          <p:nvSpPr>
            <p:cNvPr name="Freeform 20" id="20"/>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1" id="21"/>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22" id="22"/>
          <p:cNvSpPr txBox="true"/>
          <p:nvPr/>
        </p:nvSpPr>
        <p:spPr>
          <a:xfrm rot="0">
            <a:off x="7593829" y="4391715"/>
            <a:ext cx="890134" cy="447065"/>
          </a:xfrm>
          <a:prstGeom prst="rect">
            <a:avLst/>
          </a:prstGeom>
        </p:spPr>
        <p:txBody>
          <a:bodyPr anchor="t" rtlCol="false" tIns="0" lIns="0" bIns="0" rIns="0">
            <a:spAutoFit/>
          </a:bodyPr>
          <a:lstStyle/>
          <a:p>
            <a:pPr algn="ctr" marL="0" indent="0" lvl="0">
              <a:lnSpc>
                <a:spcPts val="3708"/>
              </a:lnSpc>
              <a:spcBef>
                <a:spcPct val="0"/>
              </a:spcBef>
            </a:pPr>
          </a:p>
        </p:txBody>
      </p:sp>
      <p:grpSp>
        <p:nvGrpSpPr>
          <p:cNvPr name="Group 23" id="23"/>
          <p:cNvGrpSpPr/>
          <p:nvPr/>
        </p:nvGrpSpPr>
        <p:grpSpPr>
          <a:xfrm rot="0">
            <a:off x="7139915" y="7086665"/>
            <a:ext cx="1797961" cy="771525"/>
            <a:chOff x="0" y="0"/>
            <a:chExt cx="947074" cy="406400"/>
          </a:xfrm>
        </p:grpSpPr>
        <p:sp>
          <p:nvSpPr>
            <p:cNvPr name="Freeform 24" id="24"/>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5" id="25"/>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26" id="26"/>
          <p:cNvSpPr txBox="true"/>
          <p:nvPr/>
        </p:nvSpPr>
        <p:spPr>
          <a:xfrm rot="0">
            <a:off x="7593829" y="5400625"/>
            <a:ext cx="890134" cy="447065"/>
          </a:xfrm>
          <a:prstGeom prst="rect">
            <a:avLst/>
          </a:prstGeom>
        </p:spPr>
        <p:txBody>
          <a:bodyPr anchor="t" rtlCol="false" tIns="0" lIns="0" bIns="0" rIns="0">
            <a:spAutoFit/>
          </a:bodyPr>
          <a:lstStyle/>
          <a:p>
            <a:pPr algn="ctr" marL="0" indent="0" lvl="0">
              <a:lnSpc>
                <a:spcPts val="3708"/>
              </a:lnSpc>
              <a:spcBef>
                <a:spcPct val="0"/>
              </a:spcBef>
            </a:pPr>
          </a:p>
        </p:txBody>
      </p:sp>
      <p:grpSp>
        <p:nvGrpSpPr>
          <p:cNvPr name="Group 27" id="27"/>
          <p:cNvGrpSpPr/>
          <p:nvPr/>
        </p:nvGrpSpPr>
        <p:grpSpPr>
          <a:xfrm rot="0">
            <a:off x="13969209" y="4253282"/>
            <a:ext cx="1797961" cy="771525"/>
            <a:chOff x="0" y="0"/>
            <a:chExt cx="947074" cy="406400"/>
          </a:xfrm>
        </p:grpSpPr>
        <p:sp>
          <p:nvSpPr>
            <p:cNvPr name="Freeform 28" id="28"/>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9" id="29"/>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30" id="30"/>
          <p:cNvSpPr txBox="true"/>
          <p:nvPr/>
        </p:nvSpPr>
        <p:spPr>
          <a:xfrm rot="0">
            <a:off x="14423123" y="4391715"/>
            <a:ext cx="890134" cy="447065"/>
          </a:xfrm>
          <a:prstGeom prst="rect">
            <a:avLst/>
          </a:prstGeom>
        </p:spPr>
        <p:txBody>
          <a:bodyPr anchor="t" rtlCol="false" tIns="0" lIns="0" bIns="0" rIns="0">
            <a:spAutoFit/>
          </a:bodyPr>
          <a:lstStyle/>
          <a:p>
            <a:pPr algn="ctr" marL="0" indent="0" lvl="0">
              <a:lnSpc>
                <a:spcPts val="3708"/>
              </a:lnSpc>
              <a:spcBef>
                <a:spcPct val="0"/>
              </a:spcBef>
            </a:pPr>
          </a:p>
        </p:txBody>
      </p:sp>
      <p:grpSp>
        <p:nvGrpSpPr>
          <p:cNvPr name="Group 31" id="31"/>
          <p:cNvGrpSpPr/>
          <p:nvPr/>
        </p:nvGrpSpPr>
        <p:grpSpPr>
          <a:xfrm rot="0">
            <a:off x="13969209" y="7142621"/>
            <a:ext cx="1797961" cy="771525"/>
            <a:chOff x="0" y="0"/>
            <a:chExt cx="947074" cy="406400"/>
          </a:xfrm>
        </p:grpSpPr>
        <p:sp>
          <p:nvSpPr>
            <p:cNvPr name="Freeform 32" id="32"/>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3" id="33"/>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34" id="34"/>
          <p:cNvSpPr txBox="true"/>
          <p:nvPr/>
        </p:nvSpPr>
        <p:spPr>
          <a:xfrm rot="0">
            <a:off x="14423123" y="5400625"/>
            <a:ext cx="890134" cy="447065"/>
          </a:xfrm>
          <a:prstGeom prst="rect">
            <a:avLst/>
          </a:prstGeom>
        </p:spPr>
        <p:txBody>
          <a:bodyPr anchor="t" rtlCol="false" tIns="0" lIns="0" bIns="0" rIns="0">
            <a:spAutoFit/>
          </a:bodyPr>
          <a:lstStyle/>
          <a:p>
            <a:pPr algn="ctr" marL="0" indent="0" lvl="0">
              <a:lnSpc>
                <a:spcPts val="3708"/>
              </a:lnSpc>
              <a:spcBef>
                <a:spcPct val="0"/>
              </a:spcBef>
            </a:pPr>
          </a:p>
        </p:txBody>
      </p:sp>
      <p:sp>
        <p:nvSpPr>
          <p:cNvPr name="TextBox 35" id="35"/>
          <p:cNvSpPr txBox="true"/>
          <p:nvPr/>
        </p:nvSpPr>
        <p:spPr>
          <a:xfrm rot="0">
            <a:off x="2912931" y="7225082"/>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RAM (4GB Minimum)</a:t>
            </a:r>
          </a:p>
        </p:txBody>
      </p:sp>
      <p:sp>
        <p:nvSpPr>
          <p:cNvPr name="TextBox 36" id="36"/>
          <p:cNvSpPr txBox="true"/>
          <p:nvPr/>
        </p:nvSpPr>
        <p:spPr>
          <a:xfrm rot="0">
            <a:off x="9919737" y="4391715"/>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Storage (20GB Free)</a:t>
            </a:r>
          </a:p>
        </p:txBody>
      </p:sp>
      <p:sp>
        <p:nvSpPr>
          <p:cNvPr name="TextBox 37" id="37"/>
          <p:cNvSpPr txBox="true"/>
          <p:nvPr/>
        </p:nvSpPr>
        <p:spPr>
          <a:xfrm rot="0">
            <a:off x="9919737" y="7225082"/>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IoT Sensors &amp; Devices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3">
              <a:alphaModFix amt="48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070360" y="8854139"/>
            <a:ext cx="1188940" cy="307319"/>
          </a:xfrm>
          <a:prstGeom prst="rect">
            <a:avLst/>
          </a:prstGeom>
        </p:spPr>
        <p:txBody>
          <a:bodyPr anchor="t" rtlCol="false" tIns="0" lIns="0" bIns="0" rIns="0">
            <a:spAutoFit/>
          </a:bodyPr>
          <a:lstStyle/>
          <a:p>
            <a:pPr algn="l" marL="0" indent="0" lvl="0">
              <a:lnSpc>
                <a:spcPts val="2486"/>
              </a:lnSpc>
              <a:spcBef>
                <a:spcPct val="0"/>
              </a:spcBef>
            </a:pPr>
            <a:r>
              <a:rPr lang="en-US" sz="1775" spc="-81">
                <a:solidFill>
                  <a:srgbClr val="EBF5FE"/>
                </a:solidFill>
                <a:latin typeface="Garet"/>
                <a:ea typeface="Garet"/>
                <a:cs typeface="Garet"/>
                <a:sym typeface="Garet"/>
              </a:rPr>
              <a:t>page 008</a:t>
            </a:r>
          </a:p>
        </p:txBody>
      </p:sp>
      <p:sp>
        <p:nvSpPr>
          <p:cNvPr name="TextBox 5" id="5"/>
          <p:cNvSpPr txBox="true"/>
          <p:nvPr/>
        </p:nvSpPr>
        <p:spPr>
          <a:xfrm rot="0">
            <a:off x="6915965" y="1971964"/>
            <a:ext cx="4626067" cy="1051872"/>
          </a:xfrm>
          <a:prstGeom prst="rect">
            <a:avLst/>
          </a:prstGeom>
        </p:spPr>
        <p:txBody>
          <a:bodyPr anchor="t" rtlCol="false" tIns="0" lIns="0" bIns="0" rIns="0">
            <a:spAutoFit/>
          </a:bodyPr>
          <a:lstStyle/>
          <a:p>
            <a:pPr algn="ctr" marL="0" indent="0" lvl="0">
              <a:lnSpc>
                <a:spcPts val="8697"/>
              </a:lnSpc>
              <a:spcBef>
                <a:spcPct val="0"/>
              </a:spcBef>
            </a:pPr>
            <a:r>
              <a:rPr lang="en-US" sz="6212" spc="-285">
                <a:solidFill>
                  <a:srgbClr val="EBF5FE"/>
                </a:solidFill>
                <a:latin typeface="Garet"/>
                <a:ea typeface="Garet"/>
                <a:cs typeface="Garet"/>
                <a:sym typeface="Garet"/>
              </a:rPr>
              <a:t>SOFTWARE</a:t>
            </a:r>
          </a:p>
        </p:txBody>
      </p:sp>
      <p:sp>
        <p:nvSpPr>
          <p:cNvPr name="TextBox 6" id="6"/>
          <p:cNvSpPr txBox="true"/>
          <p:nvPr/>
        </p:nvSpPr>
        <p:spPr>
          <a:xfrm rot="0">
            <a:off x="6037190" y="2734681"/>
            <a:ext cx="6535166" cy="1051872"/>
          </a:xfrm>
          <a:prstGeom prst="rect">
            <a:avLst/>
          </a:prstGeom>
        </p:spPr>
        <p:txBody>
          <a:bodyPr anchor="t" rtlCol="false" tIns="0" lIns="0" bIns="0" rIns="0">
            <a:spAutoFit/>
          </a:bodyPr>
          <a:lstStyle/>
          <a:p>
            <a:pPr algn="ctr" marL="0" indent="0" lvl="0">
              <a:lnSpc>
                <a:spcPts val="8697"/>
              </a:lnSpc>
              <a:spcBef>
                <a:spcPct val="0"/>
              </a:spcBef>
            </a:pPr>
            <a:r>
              <a:rPr lang="en-US" b="true" sz="6212" spc="-285">
                <a:solidFill>
                  <a:srgbClr val="EBF5FE"/>
                </a:solidFill>
                <a:latin typeface="Garet Bold"/>
                <a:ea typeface="Garet Bold"/>
                <a:cs typeface="Garet Bold"/>
                <a:sym typeface="Garet Bold"/>
              </a:rPr>
              <a:t>REQUIREMENTS</a:t>
            </a:r>
          </a:p>
        </p:txBody>
      </p:sp>
      <p:grpSp>
        <p:nvGrpSpPr>
          <p:cNvPr name="Group 7" id="7"/>
          <p:cNvGrpSpPr/>
          <p:nvPr/>
        </p:nvGrpSpPr>
        <p:grpSpPr>
          <a:xfrm rot="0">
            <a:off x="2548247" y="4253282"/>
            <a:ext cx="6389629" cy="771525"/>
            <a:chOff x="0" y="0"/>
            <a:chExt cx="3365731" cy="406400"/>
          </a:xfrm>
        </p:grpSpPr>
        <p:sp>
          <p:nvSpPr>
            <p:cNvPr name="Freeform 8" id="8"/>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9" id="9"/>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0" id="10"/>
          <p:cNvGrpSpPr/>
          <p:nvPr/>
        </p:nvGrpSpPr>
        <p:grpSpPr>
          <a:xfrm rot="0">
            <a:off x="2548247" y="5262193"/>
            <a:ext cx="6389629" cy="771525"/>
            <a:chOff x="0" y="0"/>
            <a:chExt cx="3365731" cy="406400"/>
          </a:xfrm>
        </p:grpSpPr>
        <p:sp>
          <p:nvSpPr>
            <p:cNvPr name="Freeform 11" id="11"/>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2" id="12"/>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3" id="13"/>
          <p:cNvGrpSpPr/>
          <p:nvPr/>
        </p:nvGrpSpPr>
        <p:grpSpPr>
          <a:xfrm rot="0">
            <a:off x="9377541" y="4253282"/>
            <a:ext cx="6389629" cy="771525"/>
            <a:chOff x="0" y="0"/>
            <a:chExt cx="3365731" cy="406400"/>
          </a:xfrm>
        </p:grpSpPr>
        <p:sp>
          <p:nvSpPr>
            <p:cNvPr name="Freeform 14" id="14"/>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5" id="15"/>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6" id="16"/>
          <p:cNvGrpSpPr/>
          <p:nvPr/>
        </p:nvGrpSpPr>
        <p:grpSpPr>
          <a:xfrm rot="0">
            <a:off x="9377541" y="5262193"/>
            <a:ext cx="6389629" cy="771525"/>
            <a:chOff x="0" y="0"/>
            <a:chExt cx="3365731" cy="406400"/>
          </a:xfrm>
        </p:grpSpPr>
        <p:sp>
          <p:nvSpPr>
            <p:cNvPr name="Freeform 17" id="17"/>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8" id="18"/>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sp>
        <p:nvSpPr>
          <p:cNvPr name="TextBox 19" id="19"/>
          <p:cNvSpPr txBox="true"/>
          <p:nvPr/>
        </p:nvSpPr>
        <p:spPr>
          <a:xfrm rot="0">
            <a:off x="2032789" y="6548068"/>
            <a:ext cx="15014472" cy="2176510"/>
          </a:xfrm>
          <a:prstGeom prst="rect">
            <a:avLst/>
          </a:prstGeom>
        </p:spPr>
        <p:txBody>
          <a:bodyPr anchor="t" rtlCol="false" tIns="0" lIns="0" bIns="0" rIns="0">
            <a:spAutoFit/>
          </a:bodyPr>
          <a:lstStyle/>
          <a:p>
            <a:pPr algn="just" marL="0" indent="0" lvl="0">
              <a:lnSpc>
                <a:spcPts val="3409"/>
              </a:lnSpc>
              <a:spcBef>
                <a:spcPct val="0"/>
              </a:spcBef>
            </a:pPr>
            <a:r>
              <a:rPr lang="en-US" sz="2435" spc="-112">
                <a:solidFill>
                  <a:srgbClr val="EBF5FE"/>
                </a:solidFill>
                <a:latin typeface="Times New Roman MT"/>
                <a:ea typeface="Times New Roman MT"/>
                <a:cs typeface="Times New Roman MT"/>
                <a:sym typeface="Times New Roman MT"/>
              </a:rPr>
              <a:t>The Emergency Evacuation Path Planner requires a comprehensive software stack to enable dynamic pathfinding capabilities. Python serves as the primary programming language due to its extensive library ecosystem and rapid prototyping capabilities. The NetworkX library provides robust graph data structures essential for building layout representation, while Matplotlib and NumPy handle visualization and numerical computations. Development is conducted in VS Code or PyCharm IDEs with MySQL/SQLite for data persistence and Git for version control.</a:t>
            </a:r>
          </a:p>
        </p:txBody>
      </p:sp>
      <p:sp>
        <p:nvSpPr>
          <p:cNvPr name="TextBox 20" id="20"/>
          <p:cNvSpPr txBox="true"/>
          <p:nvPr/>
        </p:nvSpPr>
        <p:spPr>
          <a:xfrm rot="0">
            <a:off x="3061824" y="4391715"/>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Operating System</a:t>
            </a:r>
          </a:p>
        </p:txBody>
      </p:sp>
      <p:grpSp>
        <p:nvGrpSpPr>
          <p:cNvPr name="Group 21" id="21"/>
          <p:cNvGrpSpPr/>
          <p:nvPr/>
        </p:nvGrpSpPr>
        <p:grpSpPr>
          <a:xfrm rot="0">
            <a:off x="7139915" y="4253282"/>
            <a:ext cx="1797961" cy="771525"/>
            <a:chOff x="0" y="0"/>
            <a:chExt cx="947074" cy="406400"/>
          </a:xfrm>
        </p:grpSpPr>
        <p:sp>
          <p:nvSpPr>
            <p:cNvPr name="Freeform 22" id="22"/>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3" id="23"/>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24" id="24"/>
          <p:cNvSpPr txBox="true"/>
          <p:nvPr/>
        </p:nvSpPr>
        <p:spPr>
          <a:xfrm rot="0">
            <a:off x="7593829" y="4391715"/>
            <a:ext cx="890134" cy="447065"/>
          </a:xfrm>
          <a:prstGeom prst="rect">
            <a:avLst/>
          </a:prstGeom>
        </p:spPr>
        <p:txBody>
          <a:bodyPr anchor="t" rtlCol="false" tIns="0" lIns="0" bIns="0" rIns="0">
            <a:spAutoFit/>
          </a:bodyPr>
          <a:lstStyle/>
          <a:p>
            <a:pPr algn="ctr" marL="0" indent="0" lvl="0">
              <a:lnSpc>
                <a:spcPts val="3708"/>
              </a:lnSpc>
              <a:spcBef>
                <a:spcPct val="0"/>
              </a:spcBef>
            </a:pPr>
          </a:p>
        </p:txBody>
      </p:sp>
      <p:grpSp>
        <p:nvGrpSpPr>
          <p:cNvPr name="Group 25" id="25"/>
          <p:cNvGrpSpPr/>
          <p:nvPr/>
        </p:nvGrpSpPr>
        <p:grpSpPr>
          <a:xfrm rot="0">
            <a:off x="7139915" y="5262193"/>
            <a:ext cx="1797961" cy="771525"/>
            <a:chOff x="0" y="0"/>
            <a:chExt cx="947074" cy="406400"/>
          </a:xfrm>
        </p:grpSpPr>
        <p:sp>
          <p:nvSpPr>
            <p:cNvPr name="Freeform 26" id="26"/>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7" id="27"/>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28" id="28"/>
          <p:cNvSpPr txBox="true"/>
          <p:nvPr/>
        </p:nvSpPr>
        <p:spPr>
          <a:xfrm rot="0">
            <a:off x="7593829" y="5400625"/>
            <a:ext cx="890134" cy="447065"/>
          </a:xfrm>
          <a:prstGeom prst="rect">
            <a:avLst/>
          </a:prstGeom>
        </p:spPr>
        <p:txBody>
          <a:bodyPr anchor="t" rtlCol="false" tIns="0" lIns="0" bIns="0" rIns="0">
            <a:spAutoFit/>
          </a:bodyPr>
          <a:lstStyle/>
          <a:p>
            <a:pPr algn="ctr" marL="0" indent="0" lvl="0">
              <a:lnSpc>
                <a:spcPts val="3708"/>
              </a:lnSpc>
              <a:spcBef>
                <a:spcPct val="0"/>
              </a:spcBef>
            </a:pPr>
          </a:p>
        </p:txBody>
      </p:sp>
      <p:grpSp>
        <p:nvGrpSpPr>
          <p:cNvPr name="Group 29" id="29"/>
          <p:cNvGrpSpPr/>
          <p:nvPr/>
        </p:nvGrpSpPr>
        <p:grpSpPr>
          <a:xfrm rot="0">
            <a:off x="13969209" y="4253282"/>
            <a:ext cx="1797961" cy="771525"/>
            <a:chOff x="0" y="0"/>
            <a:chExt cx="947074" cy="406400"/>
          </a:xfrm>
        </p:grpSpPr>
        <p:sp>
          <p:nvSpPr>
            <p:cNvPr name="Freeform 30" id="30"/>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1" id="31"/>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32" id="32"/>
          <p:cNvSpPr txBox="true"/>
          <p:nvPr/>
        </p:nvSpPr>
        <p:spPr>
          <a:xfrm rot="0">
            <a:off x="14423123" y="4391715"/>
            <a:ext cx="890134" cy="447065"/>
          </a:xfrm>
          <a:prstGeom prst="rect">
            <a:avLst/>
          </a:prstGeom>
        </p:spPr>
        <p:txBody>
          <a:bodyPr anchor="t" rtlCol="false" tIns="0" lIns="0" bIns="0" rIns="0">
            <a:spAutoFit/>
          </a:bodyPr>
          <a:lstStyle/>
          <a:p>
            <a:pPr algn="ctr" marL="0" indent="0" lvl="0">
              <a:lnSpc>
                <a:spcPts val="3708"/>
              </a:lnSpc>
              <a:spcBef>
                <a:spcPct val="0"/>
              </a:spcBef>
            </a:pPr>
          </a:p>
        </p:txBody>
      </p:sp>
      <p:grpSp>
        <p:nvGrpSpPr>
          <p:cNvPr name="Group 33" id="33"/>
          <p:cNvGrpSpPr/>
          <p:nvPr/>
        </p:nvGrpSpPr>
        <p:grpSpPr>
          <a:xfrm rot="0">
            <a:off x="13969209" y="5262193"/>
            <a:ext cx="1797961" cy="771525"/>
            <a:chOff x="0" y="0"/>
            <a:chExt cx="947074" cy="406400"/>
          </a:xfrm>
        </p:grpSpPr>
        <p:sp>
          <p:nvSpPr>
            <p:cNvPr name="Freeform 34" id="34"/>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5" id="35"/>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36" id="36"/>
          <p:cNvSpPr txBox="true"/>
          <p:nvPr/>
        </p:nvSpPr>
        <p:spPr>
          <a:xfrm rot="0">
            <a:off x="14423123" y="5400625"/>
            <a:ext cx="890134" cy="447065"/>
          </a:xfrm>
          <a:prstGeom prst="rect">
            <a:avLst/>
          </a:prstGeom>
        </p:spPr>
        <p:txBody>
          <a:bodyPr anchor="t" rtlCol="false" tIns="0" lIns="0" bIns="0" rIns="0">
            <a:spAutoFit/>
          </a:bodyPr>
          <a:lstStyle/>
          <a:p>
            <a:pPr algn="ctr" marL="0" indent="0" lvl="0">
              <a:lnSpc>
                <a:spcPts val="3708"/>
              </a:lnSpc>
              <a:spcBef>
                <a:spcPct val="0"/>
              </a:spcBef>
            </a:pPr>
          </a:p>
        </p:txBody>
      </p:sp>
      <p:sp>
        <p:nvSpPr>
          <p:cNvPr name="TextBox 37" id="37"/>
          <p:cNvSpPr txBox="true"/>
          <p:nvPr/>
        </p:nvSpPr>
        <p:spPr>
          <a:xfrm rot="0">
            <a:off x="3061824" y="5424857"/>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Python Language</a:t>
            </a:r>
          </a:p>
        </p:txBody>
      </p:sp>
      <p:sp>
        <p:nvSpPr>
          <p:cNvPr name="TextBox 38" id="38"/>
          <p:cNvSpPr txBox="true"/>
          <p:nvPr/>
        </p:nvSpPr>
        <p:spPr>
          <a:xfrm rot="0">
            <a:off x="9919737" y="4391715"/>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Core Libraries</a:t>
            </a:r>
          </a:p>
        </p:txBody>
      </p:sp>
      <p:sp>
        <p:nvSpPr>
          <p:cNvPr name="TextBox 39" id="39"/>
          <p:cNvSpPr txBox="true"/>
          <p:nvPr/>
        </p:nvSpPr>
        <p:spPr>
          <a:xfrm rot="0">
            <a:off x="9919737" y="5424857"/>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Development Tools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3">
              <a:alphaModFix amt="48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55207" y="3072152"/>
            <a:ext cx="7304431" cy="5295712"/>
          </a:xfrm>
          <a:custGeom>
            <a:avLst/>
            <a:gdLst/>
            <a:ahLst/>
            <a:cxnLst/>
            <a:rect r="r" b="b" t="t" l="l"/>
            <a:pathLst>
              <a:path h="5295712" w="7304431">
                <a:moveTo>
                  <a:pt x="0" y="0"/>
                </a:moveTo>
                <a:lnTo>
                  <a:pt x="7304431" y="0"/>
                </a:lnTo>
                <a:lnTo>
                  <a:pt x="7304431" y="5295713"/>
                </a:lnTo>
                <a:lnTo>
                  <a:pt x="0" y="5295713"/>
                </a:lnTo>
                <a:lnTo>
                  <a:pt x="0" y="0"/>
                </a:lnTo>
                <a:close/>
              </a:path>
            </a:pathLst>
          </a:custGeom>
          <a:blipFill>
            <a:blip r:embed="rId5"/>
            <a:stretch>
              <a:fillRect l="0" t="0" r="0" b="0"/>
            </a:stretch>
          </a:blipFill>
        </p:spPr>
      </p:sp>
      <p:sp>
        <p:nvSpPr>
          <p:cNvPr name="TextBox 5" id="5"/>
          <p:cNvSpPr txBox="true"/>
          <p:nvPr/>
        </p:nvSpPr>
        <p:spPr>
          <a:xfrm rot="0">
            <a:off x="16070360" y="8854139"/>
            <a:ext cx="1188940" cy="307319"/>
          </a:xfrm>
          <a:prstGeom prst="rect">
            <a:avLst/>
          </a:prstGeom>
        </p:spPr>
        <p:txBody>
          <a:bodyPr anchor="t" rtlCol="false" tIns="0" lIns="0" bIns="0" rIns="0">
            <a:spAutoFit/>
          </a:bodyPr>
          <a:lstStyle/>
          <a:p>
            <a:pPr algn="l" marL="0" indent="0" lvl="0">
              <a:lnSpc>
                <a:spcPts val="2486"/>
              </a:lnSpc>
              <a:spcBef>
                <a:spcPct val="0"/>
              </a:spcBef>
            </a:pPr>
            <a:r>
              <a:rPr lang="en-US" sz="1775" spc="-81">
                <a:solidFill>
                  <a:srgbClr val="EBF5FE"/>
                </a:solidFill>
                <a:latin typeface="Garet"/>
                <a:ea typeface="Garet"/>
                <a:cs typeface="Garet"/>
                <a:sym typeface="Garet"/>
              </a:rPr>
              <a:t>page 010</a:t>
            </a:r>
          </a:p>
        </p:txBody>
      </p:sp>
      <p:sp>
        <p:nvSpPr>
          <p:cNvPr name="TextBox 6" id="6"/>
          <p:cNvSpPr txBox="true"/>
          <p:nvPr/>
        </p:nvSpPr>
        <p:spPr>
          <a:xfrm rot="0">
            <a:off x="4877565" y="1514003"/>
            <a:ext cx="9191370" cy="762000"/>
          </a:xfrm>
          <a:prstGeom prst="rect">
            <a:avLst/>
          </a:prstGeom>
        </p:spPr>
        <p:txBody>
          <a:bodyPr anchor="t" rtlCol="false" tIns="0" lIns="0" bIns="0" rIns="0">
            <a:spAutoFit/>
          </a:bodyPr>
          <a:lstStyle/>
          <a:p>
            <a:pPr algn="l" marL="0" indent="0" lvl="0">
              <a:lnSpc>
                <a:spcPts val="6299"/>
              </a:lnSpc>
              <a:spcBef>
                <a:spcPct val="0"/>
              </a:spcBef>
            </a:pPr>
            <a:r>
              <a:rPr lang="en-US" sz="4500" spc="-206">
                <a:solidFill>
                  <a:srgbClr val="EBF5FE"/>
                </a:solidFill>
                <a:latin typeface="Garet"/>
                <a:ea typeface="Garet"/>
                <a:cs typeface="Garet"/>
                <a:sym typeface="Garet"/>
              </a:rPr>
              <a:t>EXISTING SYSTEM ARCHITECTURE</a:t>
            </a:r>
          </a:p>
        </p:txBody>
      </p:sp>
      <p:sp>
        <p:nvSpPr>
          <p:cNvPr name="Freeform 7" id="7"/>
          <p:cNvSpPr/>
          <p:nvPr/>
        </p:nvSpPr>
        <p:spPr>
          <a:xfrm flipH="false" flipV="false" rot="0">
            <a:off x="-1451335" y="4049830"/>
            <a:ext cx="6040400" cy="5602471"/>
          </a:xfrm>
          <a:custGeom>
            <a:avLst/>
            <a:gdLst/>
            <a:ahLst/>
            <a:cxnLst/>
            <a:rect r="r" b="b" t="t" l="l"/>
            <a:pathLst>
              <a:path h="5602471" w="6040400">
                <a:moveTo>
                  <a:pt x="0" y="0"/>
                </a:moveTo>
                <a:lnTo>
                  <a:pt x="6040400" y="0"/>
                </a:lnTo>
                <a:lnTo>
                  <a:pt x="6040400" y="5602470"/>
                </a:lnTo>
                <a:lnTo>
                  <a:pt x="0" y="5602470"/>
                </a:lnTo>
                <a:lnTo>
                  <a:pt x="0" y="0"/>
                </a:lnTo>
                <a:close/>
              </a:path>
            </a:pathLst>
          </a:custGeom>
          <a:blipFill>
            <a:blip r:embed="rId6"/>
            <a:stretch>
              <a:fillRect l="0" t="0" r="0" b="0"/>
            </a:stretch>
          </a:blipFill>
        </p:spPr>
      </p:sp>
      <p:sp>
        <p:nvSpPr>
          <p:cNvPr name="TextBox 8" id="8"/>
          <p:cNvSpPr txBox="true"/>
          <p:nvPr/>
        </p:nvSpPr>
        <p:spPr>
          <a:xfrm rot="0">
            <a:off x="4877565" y="2544980"/>
            <a:ext cx="8988930" cy="7143169"/>
          </a:xfrm>
          <a:prstGeom prst="rect">
            <a:avLst/>
          </a:prstGeom>
        </p:spPr>
        <p:txBody>
          <a:bodyPr anchor="t" rtlCol="false" tIns="0" lIns="0" bIns="0" rIns="0">
            <a:spAutoFit/>
          </a:bodyPr>
          <a:lstStyle/>
          <a:p>
            <a:pPr algn="just" marL="0" indent="0" lvl="0">
              <a:lnSpc>
                <a:spcPts val="4108"/>
              </a:lnSpc>
              <a:spcBef>
                <a:spcPct val="0"/>
              </a:spcBef>
            </a:pPr>
            <a:r>
              <a:rPr lang="en-US" sz="2934" spc="-135">
                <a:solidFill>
                  <a:srgbClr val="EBF5FE"/>
                </a:solidFill>
                <a:latin typeface="Times New Roman"/>
                <a:ea typeface="Times New Roman"/>
                <a:cs typeface="Times New Roman"/>
                <a:sym typeface="Times New Roman"/>
              </a:rPr>
              <a:t>C</a:t>
            </a:r>
            <a:r>
              <a:rPr lang="en-US" sz="2934" spc="-135">
                <a:solidFill>
                  <a:srgbClr val="EBF5FE"/>
                </a:solidFill>
                <a:latin typeface="Times New Roman"/>
                <a:ea typeface="Times New Roman"/>
                <a:cs typeface="Times New Roman"/>
                <a:sym typeface="Times New Roman"/>
              </a:rPr>
              <a:t>urrent evacuation systems follow a rigid, linear flow: Emergency Occurs → Fixed Evacuation Map → Occupants Follow Predefined Route → Reach Exit. This architecture relies entirely on static signage and predetermined paths that cannot adapt to real-time conditions.</a:t>
            </a:r>
          </a:p>
          <a:p>
            <a:pPr algn="just" marL="0" indent="0" lvl="0">
              <a:lnSpc>
                <a:spcPts val="4108"/>
              </a:lnSpc>
              <a:spcBef>
                <a:spcPct val="0"/>
              </a:spcBef>
            </a:pPr>
            <a:r>
              <a:rPr lang="en-US" sz="2934" spc="-135">
                <a:solidFill>
                  <a:srgbClr val="EBF5FE"/>
                </a:solidFill>
                <a:latin typeface="Times New Roman"/>
                <a:ea typeface="Times New Roman"/>
                <a:cs typeface="Times New Roman"/>
                <a:sym typeface="Times New Roman"/>
              </a:rPr>
              <a:t>Key Drawbacks:</a:t>
            </a:r>
          </a:p>
          <a:p>
            <a:pPr algn="just" marL="0" indent="0" lvl="0">
              <a:lnSpc>
                <a:spcPts val="4108"/>
              </a:lnSpc>
              <a:spcBef>
                <a:spcPct val="0"/>
              </a:spcBef>
            </a:pPr>
            <a:r>
              <a:rPr lang="en-US" sz="2934" spc="-135">
                <a:solidFill>
                  <a:srgbClr val="EBF5FE"/>
                </a:solidFill>
                <a:latin typeface="Times New Roman"/>
                <a:ea typeface="Times New Roman"/>
                <a:cs typeface="Times New Roman"/>
                <a:sym typeface="Times New Roman"/>
              </a:rPr>
              <a:t>• No hazard detection capability - system unaware of blocked exits or danger zones</a:t>
            </a:r>
          </a:p>
          <a:p>
            <a:pPr algn="just" marL="0" indent="0" lvl="0">
              <a:lnSpc>
                <a:spcPts val="4108"/>
              </a:lnSpc>
              <a:spcBef>
                <a:spcPct val="0"/>
              </a:spcBef>
            </a:pPr>
            <a:r>
              <a:rPr lang="en-US" sz="2934" spc="-135">
                <a:solidFill>
                  <a:srgbClr val="EBF5FE"/>
                </a:solidFill>
                <a:latin typeface="Times New Roman"/>
                <a:ea typeface="Times New Roman"/>
                <a:cs typeface="Times New Roman"/>
                <a:sym typeface="Times New Roman"/>
              </a:rPr>
              <a:t>• No alternative path calculation when primary routes become unsafe</a:t>
            </a:r>
          </a:p>
          <a:p>
            <a:pPr algn="just" marL="0" indent="0" lvl="0">
              <a:lnSpc>
                <a:spcPts val="4108"/>
              </a:lnSpc>
              <a:spcBef>
                <a:spcPct val="0"/>
              </a:spcBef>
            </a:pPr>
            <a:r>
              <a:rPr lang="en-US" sz="2934" spc="-135">
                <a:solidFill>
                  <a:srgbClr val="EBF5FE"/>
                </a:solidFill>
                <a:latin typeface="Times New Roman"/>
                <a:ea typeface="Times New Roman"/>
                <a:cs typeface="Times New Roman"/>
                <a:sym typeface="Times New Roman"/>
              </a:rPr>
              <a:t>• Static routes remain unchanged regardless of emergency type or location</a:t>
            </a:r>
          </a:p>
          <a:p>
            <a:pPr algn="just" marL="0" indent="0" lvl="0">
              <a:lnSpc>
                <a:spcPts val="4108"/>
              </a:lnSpc>
              <a:spcBef>
                <a:spcPct val="0"/>
              </a:spcBef>
            </a:pPr>
            <a:r>
              <a:rPr lang="en-US" sz="2934" spc="-135">
                <a:solidFill>
                  <a:srgbClr val="EBF5FE"/>
                </a:solidFill>
                <a:latin typeface="Times New Roman"/>
                <a:ea typeface="Times New Roman"/>
                <a:cs typeface="Times New Roman"/>
                <a:sym typeface="Times New Roman"/>
              </a:rPr>
              <a:t>• Single point of failure if designated exit becomes inaccessible</a:t>
            </a:r>
          </a:p>
          <a:p>
            <a:pPr algn="just" marL="0" indent="0" lvl="0">
              <a:lnSpc>
                <a:spcPts val="4108"/>
              </a:lnSpc>
              <a:spcBef>
                <a:spcPct val="0"/>
              </a:spcBef>
            </a:pPr>
            <a:r>
              <a:rPr lang="en-US" sz="2934" spc="-135">
                <a:solidFill>
                  <a:srgbClr val="EBF5FE"/>
                </a:solidFill>
                <a:latin typeface="Times New Roman"/>
                <a:ea typeface="Times New Roman"/>
                <a:cs typeface="Times New Roman"/>
                <a:sym typeface="Times New Roman"/>
              </a:rPr>
              <a:t>• Results in congestion, delays, and increased safety risks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50385" y="7709520"/>
            <a:ext cx="4017831" cy="701294"/>
          </a:xfrm>
          <a:custGeom>
            <a:avLst/>
            <a:gdLst/>
            <a:ahLst/>
            <a:cxnLst/>
            <a:rect r="r" b="b" t="t" l="l"/>
            <a:pathLst>
              <a:path h="701294" w="4017831">
                <a:moveTo>
                  <a:pt x="0" y="0"/>
                </a:moveTo>
                <a:lnTo>
                  <a:pt x="4017830" y="0"/>
                </a:lnTo>
                <a:lnTo>
                  <a:pt x="4017830" y="701294"/>
                </a:lnTo>
                <a:lnTo>
                  <a:pt x="0" y="701294"/>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023729" y="1602290"/>
            <a:ext cx="4444454" cy="2811117"/>
          </a:xfrm>
          <a:custGeom>
            <a:avLst/>
            <a:gdLst/>
            <a:ahLst/>
            <a:cxnLst/>
            <a:rect r="r" b="b" t="t" l="l"/>
            <a:pathLst>
              <a:path h="2811117" w="4444454">
                <a:moveTo>
                  <a:pt x="0" y="0"/>
                </a:moveTo>
                <a:lnTo>
                  <a:pt x="4444454" y="0"/>
                </a:lnTo>
                <a:lnTo>
                  <a:pt x="4444454" y="2811118"/>
                </a:lnTo>
                <a:lnTo>
                  <a:pt x="0" y="2811118"/>
                </a:lnTo>
                <a:lnTo>
                  <a:pt x="0" y="0"/>
                </a:lnTo>
                <a:close/>
              </a:path>
            </a:pathLst>
          </a:custGeom>
          <a:blipFill>
            <a:blip r:embed="rId4"/>
            <a:stretch>
              <a:fillRect l="0" t="0" r="0" b="0"/>
            </a:stretch>
          </a:blipFill>
        </p:spPr>
      </p:sp>
      <p:sp>
        <p:nvSpPr>
          <p:cNvPr name="TextBox 5" id="5"/>
          <p:cNvSpPr txBox="true"/>
          <p:nvPr/>
        </p:nvSpPr>
        <p:spPr>
          <a:xfrm rot="0">
            <a:off x="16070360" y="8863664"/>
            <a:ext cx="1188940" cy="272763"/>
          </a:xfrm>
          <a:prstGeom prst="rect">
            <a:avLst/>
          </a:prstGeom>
        </p:spPr>
        <p:txBody>
          <a:bodyPr anchor="t" rtlCol="false" tIns="0" lIns="0" bIns="0" rIns="0">
            <a:spAutoFit/>
          </a:bodyPr>
          <a:lstStyle/>
          <a:p>
            <a:pPr algn="l" marL="0" indent="0" lvl="0">
              <a:lnSpc>
                <a:spcPts val="2290"/>
              </a:lnSpc>
              <a:spcBef>
                <a:spcPct val="0"/>
              </a:spcBef>
            </a:pPr>
            <a:r>
              <a:rPr lang="en-US" sz="1636" spc="-75">
                <a:solidFill>
                  <a:srgbClr val="EBF5FE"/>
                </a:solidFill>
                <a:latin typeface="Garet"/>
                <a:ea typeface="Garet"/>
                <a:cs typeface="Garet"/>
                <a:sym typeface="Garet"/>
              </a:rPr>
              <a:t>page 012</a:t>
            </a:r>
          </a:p>
        </p:txBody>
      </p:sp>
      <p:sp>
        <p:nvSpPr>
          <p:cNvPr name="TextBox 6" id="6"/>
          <p:cNvSpPr txBox="true"/>
          <p:nvPr/>
        </p:nvSpPr>
        <p:spPr>
          <a:xfrm rot="0">
            <a:off x="6202305" y="1382350"/>
            <a:ext cx="5707353" cy="840391"/>
          </a:xfrm>
          <a:prstGeom prst="rect">
            <a:avLst/>
          </a:prstGeom>
        </p:spPr>
        <p:txBody>
          <a:bodyPr anchor="t" rtlCol="false" tIns="0" lIns="0" bIns="0" rIns="0">
            <a:spAutoFit/>
          </a:bodyPr>
          <a:lstStyle/>
          <a:p>
            <a:pPr algn="ctr" marL="0" indent="0" lvl="0">
              <a:lnSpc>
                <a:spcPts val="6852"/>
              </a:lnSpc>
              <a:spcBef>
                <a:spcPct val="0"/>
              </a:spcBef>
            </a:pPr>
            <a:r>
              <a:rPr lang="en-US" sz="4894" spc="-225">
                <a:solidFill>
                  <a:srgbClr val="EBF5FE"/>
                </a:solidFill>
                <a:latin typeface="Garet"/>
                <a:ea typeface="Garet"/>
                <a:cs typeface="Garet"/>
                <a:sym typeface="Garet"/>
              </a:rPr>
              <a:t>PROPOSED SYSTEM</a:t>
            </a:r>
          </a:p>
        </p:txBody>
      </p:sp>
      <p:sp>
        <p:nvSpPr>
          <p:cNvPr name="TextBox 7" id="7"/>
          <p:cNvSpPr txBox="true"/>
          <p:nvPr/>
        </p:nvSpPr>
        <p:spPr>
          <a:xfrm rot="0">
            <a:off x="6742948" y="2181150"/>
            <a:ext cx="4626067" cy="826698"/>
          </a:xfrm>
          <a:prstGeom prst="rect">
            <a:avLst/>
          </a:prstGeom>
        </p:spPr>
        <p:txBody>
          <a:bodyPr anchor="t" rtlCol="false" tIns="0" lIns="0" bIns="0" rIns="0">
            <a:spAutoFit/>
          </a:bodyPr>
          <a:lstStyle/>
          <a:p>
            <a:pPr algn="ctr" marL="0" indent="0" lvl="0">
              <a:lnSpc>
                <a:spcPts val="6738"/>
              </a:lnSpc>
              <a:spcBef>
                <a:spcPct val="0"/>
              </a:spcBef>
            </a:pPr>
            <a:r>
              <a:rPr lang="en-US" b="true" sz="4813" spc="-221">
                <a:solidFill>
                  <a:srgbClr val="EBF5FE"/>
                </a:solidFill>
                <a:latin typeface="Garet Bold"/>
                <a:ea typeface="Garet Bold"/>
                <a:cs typeface="Garet Bold"/>
                <a:sym typeface="Garet Bold"/>
              </a:rPr>
              <a:t>ARCHITECTURE</a:t>
            </a:r>
          </a:p>
        </p:txBody>
      </p:sp>
      <p:sp>
        <p:nvSpPr>
          <p:cNvPr name="TextBox 8" id="8"/>
          <p:cNvSpPr txBox="true"/>
          <p:nvPr/>
        </p:nvSpPr>
        <p:spPr>
          <a:xfrm rot="0">
            <a:off x="3481963" y="3619668"/>
            <a:ext cx="11596960" cy="5873979"/>
          </a:xfrm>
          <a:prstGeom prst="rect">
            <a:avLst/>
          </a:prstGeom>
        </p:spPr>
        <p:txBody>
          <a:bodyPr anchor="t" rtlCol="false" tIns="0" lIns="0" bIns="0" rIns="0">
            <a:spAutoFit/>
          </a:bodyPr>
          <a:lstStyle/>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Dynamic Pathfinding Engine</a:t>
            </a:r>
          </a:p>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Core algorithms process the graph:</a:t>
            </a:r>
          </a:p>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 A* Algorithm - Heuristic-based optimal routing</a:t>
            </a:r>
          </a:p>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 Dijkstra's Algorithm - Guaranteed shortest path</a:t>
            </a:r>
          </a:p>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 BFS - Rapid unweighted path discovery</a:t>
            </a:r>
          </a:p>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Safe Route Calculation</a:t>
            </a:r>
          </a:p>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Generates optimal evacuation paths avoiding hazards and congestion points.</a:t>
            </a:r>
          </a:p>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User Guidance System</a:t>
            </a:r>
          </a:p>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Delivers real-time directions via displays, mobile alerts, and audio announcements.</a:t>
            </a:r>
          </a:p>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Emergency Exit</a:t>
            </a:r>
          </a:p>
          <a:p>
            <a:pPr algn="just" marL="603923" indent="-301961" lvl="1">
              <a:lnSpc>
                <a:spcPts val="3916"/>
              </a:lnSpc>
              <a:spcBef>
                <a:spcPct val="0"/>
              </a:spcBef>
              <a:buAutoNum type="arabicPeriod" startAt="1"/>
            </a:pPr>
            <a:r>
              <a:rPr lang="en-US" b="true" sz="2797" spc="-128">
                <a:solidFill>
                  <a:srgbClr val="EBF5FE"/>
                </a:solidFill>
                <a:latin typeface="Times New Roman Bold"/>
                <a:ea typeface="Times New Roman Bold"/>
                <a:cs typeface="Times New Roman Bold"/>
                <a:sym typeface="Times New Roman Bold"/>
              </a:rPr>
              <a:t>Occupants reach nearest safe exit efficiently.</a:t>
            </a:r>
          </a:p>
        </p:txBody>
      </p:sp>
      <p:sp>
        <p:nvSpPr>
          <p:cNvPr name="Freeform 9" id="9"/>
          <p:cNvSpPr/>
          <p:nvPr/>
        </p:nvSpPr>
        <p:spPr>
          <a:xfrm flipH="false" flipV="false" rot="0">
            <a:off x="-199428" y="1251915"/>
            <a:ext cx="4136309" cy="3340865"/>
          </a:xfrm>
          <a:custGeom>
            <a:avLst/>
            <a:gdLst/>
            <a:ahLst/>
            <a:cxnLst/>
            <a:rect r="r" b="b" t="t" l="l"/>
            <a:pathLst>
              <a:path h="3340865" w="4136309">
                <a:moveTo>
                  <a:pt x="0" y="0"/>
                </a:moveTo>
                <a:lnTo>
                  <a:pt x="4136309" y="0"/>
                </a:lnTo>
                <a:lnTo>
                  <a:pt x="4136309" y="3340864"/>
                </a:lnTo>
                <a:lnTo>
                  <a:pt x="0" y="3340864"/>
                </a:lnTo>
                <a:lnTo>
                  <a:pt x="0" y="0"/>
                </a:lnTo>
                <a:close/>
              </a:path>
            </a:pathLst>
          </a:custGeom>
          <a:blipFill>
            <a:blip r:embed="rId5"/>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69705" y="1894074"/>
            <a:ext cx="10013831" cy="6819405"/>
          </a:xfrm>
          <a:custGeom>
            <a:avLst/>
            <a:gdLst/>
            <a:ahLst/>
            <a:cxnLst/>
            <a:rect r="r" b="b" t="t" l="l"/>
            <a:pathLst>
              <a:path h="6819405" w="10013831">
                <a:moveTo>
                  <a:pt x="0" y="0"/>
                </a:moveTo>
                <a:lnTo>
                  <a:pt x="10013831" y="0"/>
                </a:lnTo>
                <a:lnTo>
                  <a:pt x="10013831" y="6819405"/>
                </a:lnTo>
                <a:lnTo>
                  <a:pt x="0" y="6819405"/>
                </a:lnTo>
                <a:lnTo>
                  <a:pt x="0" y="0"/>
                </a:lnTo>
                <a:close/>
              </a:path>
            </a:pathLst>
          </a:custGeom>
          <a:blipFill>
            <a:blip r:embed="rId4"/>
            <a:stretch>
              <a:fillRect l="0" t="0" r="0" b="0"/>
            </a:stretch>
          </a:blipFill>
        </p:spPr>
      </p:sp>
      <p:sp>
        <p:nvSpPr>
          <p:cNvPr name="Freeform 4" id="4"/>
          <p:cNvSpPr/>
          <p:nvPr/>
        </p:nvSpPr>
        <p:spPr>
          <a:xfrm flipH="false" flipV="false" rot="0">
            <a:off x="8371964" y="2785819"/>
            <a:ext cx="3213399" cy="2900092"/>
          </a:xfrm>
          <a:custGeom>
            <a:avLst/>
            <a:gdLst/>
            <a:ahLst/>
            <a:cxnLst/>
            <a:rect r="r" b="b" t="t" l="l"/>
            <a:pathLst>
              <a:path h="2900092" w="3213399">
                <a:moveTo>
                  <a:pt x="0" y="0"/>
                </a:moveTo>
                <a:lnTo>
                  <a:pt x="3213399" y="0"/>
                </a:lnTo>
                <a:lnTo>
                  <a:pt x="3213399" y="2900092"/>
                </a:lnTo>
                <a:lnTo>
                  <a:pt x="0" y="2900092"/>
                </a:lnTo>
                <a:lnTo>
                  <a:pt x="0" y="0"/>
                </a:lnTo>
                <a:close/>
              </a:path>
            </a:pathLst>
          </a:custGeom>
          <a:blipFill>
            <a:blip r:embed="rId5"/>
            <a:stretch>
              <a:fillRect l="0" t="0" r="0" b="0"/>
            </a:stretch>
          </a:blipFill>
        </p:spPr>
      </p:sp>
      <p:sp>
        <p:nvSpPr>
          <p:cNvPr name="TextBox 5" id="5"/>
          <p:cNvSpPr txBox="true"/>
          <p:nvPr/>
        </p:nvSpPr>
        <p:spPr>
          <a:xfrm rot="0">
            <a:off x="2534210" y="8863664"/>
            <a:ext cx="3303490" cy="231300"/>
          </a:xfrm>
          <a:prstGeom prst="rect">
            <a:avLst/>
          </a:prstGeom>
        </p:spPr>
        <p:txBody>
          <a:bodyPr anchor="t" rtlCol="false" tIns="0" lIns="0" bIns="0" rIns="0">
            <a:spAutoFit/>
          </a:bodyPr>
          <a:lstStyle/>
          <a:p>
            <a:pPr algn="l" marL="0" indent="0" lvl="0">
              <a:lnSpc>
                <a:spcPts val="1926"/>
              </a:lnSpc>
              <a:spcBef>
                <a:spcPct val="0"/>
              </a:spcBef>
            </a:pPr>
            <a:r>
              <a:rPr lang="en-US" b="true" sz="1375" spc="-63">
                <a:solidFill>
                  <a:srgbClr val="3C67BF"/>
                </a:solidFill>
                <a:latin typeface="Garet Bold"/>
                <a:ea typeface="Garet Bold"/>
                <a:cs typeface="Garet Bold"/>
                <a:sym typeface="Garet Bold"/>
              </a:rPr>
              <a:t>www.university.edu/cse</a:t>
            </a:r>
          </a:p>
        </p:txBody>
      </p:sp>
      <p:sp>
        <p:nvSpPr>
          <p:cNvPr name="TextBox 6" id="6"/>
          <p:cNvSpPr txBox="true"/>
          <p:nvPr/>
        </p:nvSpPr>
        <p:spPr>
          <a:xfrm rot="0">
            <a:off x="16070360" y="8863664"/>
            <a:ext cx="1188940" cy="231753"/>
          </a:xfrm>
          <a:prstGeom prst="rect">
            <a:avLst/>
          </a:prstGeom>
        </p:spPr>
        <p:txBody>
          <a:bodyPr anchor="t" rtlCol="false" tIns="0" lIns="0" bIns="0" rIns="0">
            <a:spAutoFit/>
          </a:bodyPr>
          <a:lstStyle/>
          <a:p>
            <a:pPr algn="l" marL="0" indent="0" lvl="0">
              <a:lnSpc>
                <a:spcPts val="1926"/>
              </a:lnSpc>
              <a:spcBef>
                <a:spcPct val="0"/>
              </a:spcBef>
            </a:pPr>
            <a:r>
              <a:rPr lang="en-US" sz="1375" spc="-63">
                <a:solidFill>
                  <a:srgbClr val="EBF5FE"/>
                </a:solidFill>
                <a:latin typeface="Garet"/>
                <a:ea typeface="Garet"/>
                <a:cs typeface="Garet"/>
                <a:sym typeface="Garet"/>
              </a:rPr>
              <a:t>page 15</a:t>
            </a:r>
          </a:p>
        </p:txBody>
      </p:sp>
      <p:sp>
        <p:nvSpPr>
          <p:cNvPr name="TextBox 7" id="7"/>
          <p:cNvSpPr txBox="true"/>
          <p:nvPr/>
        </p:nvSpPr>
        <p:spPr>
          <a:xfrm rot="0">
            <a:off x="1727020" y="1844536"/>
            <a:ext cx="5620038" cy="1204610"/>
          </a:xfrm>
          <a:prstGeom prst="rect">
            <a:avLst/>
          </a:prstGeom>
        </p:spPr>
        <p:txBody>
          <a:bodyPr anchor="t" rtlCol="false" tIns="0" lIns="0" bIns="0" rIns="0">
            <a:spAutoFit/>
          </a:bodyPr>
          <a:lstStyle/>
          <a:p>
            <a:pPr algn="l" marL="0" indent="0" lvl="0">
              <a:lnSpc>
                <a:spcPts val="9949"/>
              </a:lnSpc>
              <a:spcBef>
                <a:spcPct val="0"/>
              </a:spcBef>
            </a:pPr>
            <a:r>
              <a:rPr lang="en-US" sz="7106" spc="-326">
                <a:solidFill>
                  <a:srgbClr val="EBF5FE"/>
                </a:solidFill>
                <a:latin typeface="Garet"/>
                <a:ea typeface="Garet"/>
                <a:cs typeface="Garet"/>
                <a:sym typeface="Garet"/>
              </a:rPr>
              <a:t>KEY</a:t>
            </a:r>
          </a:p>
        </p:txBody>
      </p:sp>
      <p:sp>
        <p:nvSpPr>
          <p:cNvPr name="TextBox 8" id="8"/>
          <p:cNvSpPr txBox="true"/>
          <p:nvPr/>
        </p:nvSpPr>
        <p:spPr>
          <a:xfrm rot="0">
            <a:off x="1727020" y="2883632"/>
            <a:ext cx="5935716" cy="1204610"/>
          </a:xfrm>
          <a:prstGeom prst="rect">
            <a:avLst/>
          </a:prstGeom>
        </p:spPr>
        <p:txBody>
          <a:bodyPr anchor="t" rtlCol="false" tIns="0" lIns="0" bIns="0" rIns="0">
            <a:spAutoFit/>
          </a:bodyPr>
          <a:lstStyle/>
          <a:p>
            <a:pPr algn="l" marL="0" indent="0" lvl="0">
              <a:lnSpc>
                <a:spcPts val="9949"/>
              </a:lnSpc>
              <a:spcBef>
                <a:spcPct val="0"/>
              </a:spcBef>
            </a:pPr>
            <a:r>
              <a:rPr lang="en-US" b="true" sz="7106" spc="-326">
                <a:solidFill>
                  <a:srgbClr val="EBF5FE"/>
                </a:solidFill>
                <a:latin typeface="Garet Bold"/>
                <a:ea typeface="Garet Bold"/>
                <a:cs typeface="Garet Bold"/>
                <a:sym typeface="Garet Bold"/>
              </a:rPr>
              <a:t>ADVANTAGES</a:t>
            </a:r>
          </a:p>
        </p:txBody>
      </p:sp>
      <p:grpSp>
        <p:nvGrpSpPr>
          <p:cNvPr name="Group 9" id="9"/>
          <p:cNvGrpSpPr/>
          <p:nvPr/>
        </p:nvGrpSpPr>
        <p:grpSpPr>
          <a:xfrm rot="0">
            <a:off x="1727020" y="4853240"/>
            <a:ext cx="6389629" cy="771525"/>
            <a:chOff x="0" y="0"/>
            <a:chExt cx="3365731" cy="406400"/>
          </a:xfrm>
        </p:grpSpPr>
        <p:sp>
          <p:nvSpPr>
            <p:cNvPr name="Freeform 10" id="10"/>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1" id="11"/>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2" id="12"/>
          <p:cNvGrpSpPr/>
          <p:nvPr/>
        </p:nvGrpSpPr>
        <p:grpSpPr>
          <a:xfrm rot="0">
            <a:off x="1727020" y="5862151"/>
            <a:ext cx="6389629" cy="771525"/>
            <a:chOff x="0" y="0"/>
            <a:chExt cx="3365731" cy="406400"/>
          </a:xfrm>
        </p:grpSpPr>
        <p:sp>
          <p:nvSpPr>
            <p:cNvPr name="Freeform 13" id="13"/>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4" id="14"/>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5" id="15"/>
          <p:cNvGrpSpPr/>
          <p:nvPr/>
        </p:nvGrpSpPr>
        <p:grpSpPr>
          <a:xfrm rot="0">
            <a:off x="1727020" y="6871061"/>
            <a:ext cx="6389629" cy="771525"/>
            <a:chOff x="0" y="0"/>
            <a:chExt cx="3365731" cy="406400"/>
          </a:xfrm>
        </p:grpSpPr>
        <p:sp>
          <p:nvSpPr>
            <p:cNvPr name="Freeform 16" id="16"/>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7" id="17"/>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8" id="18"/>
          <p:cNvGrpSpPr/>
          <p:nvPr/>
        </p:nvGrpSpPr>
        <p:grpSpPr>
          <a:xfrm rot="0">
            <a:off x="6318689" y="4853240"/>
            <a:ext cx="1797961" cy="771525"/>
            <a:chOff x="0" y="0"/>
            <a:chExt cx="947074" cy="406400"/>
          </a:xfrm>
        </p:grpSpPr>
        <p:sp>
          <p:nvSpPr>
            <p:cNvPr name="Freeform 19" id="19"/>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0" id="20"/>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21" id="21"/>
          <p:cNvSpPr txBox="true"/>
          <p:nvPr/>
        </p:nvSpPr>
        <p:spPr>
          <a:xfrm rot="0">
            <a:off x="6772602" y="4991673"/>
            <a:ext cx="890134" cy="447065"/>
          </a:xfrm>
          <a:prstGeom prst="rect">
            <a:avLst/>
          </a:prstGeom>
        </p:spPr>
        <p:txBody>
          <a:bodyPr anchor="t" rtlCol="false" tIns="0" lIns="0" bIns="0" rIns="0">
            <a:spAutoFit/>
          </a:bodyPr>
          <a:lstStyle/>
          <a:p>
            <a:pPr algn="ctr" marL="0" indent="0" lvl="0">
              <a:lnSpc>
                <a:spcPts val="3708"/>
              </a:lnSpc>
              <a:spcBef>
                <a:spcPct val="0"/>
              </a:spcBef>
            </a:pPr>
          </a:p>
        </p:txBody>
      </p:sp>
      <p:grpSp>
        <p:nvGrpSpPr>
          <p:cNvPr name="Group 22" id="22"/>
          <p:cNvGrpSpPr/>
          <p:nvPr/>
        </p:nvGrpSpPr>
        <p:grpSpPr>
          <a:xfrm rot="0">
            <a:off x="6318689" y="5862151"/>
            <a:ext cx="1797961" cy="771525"/>
            <a:chOff x="0" y="0"/>
            <a:chExt cx="947074" cy="406400"/>
          </a:xfrm>
        </p:grpSpPr>
        <p:sp>
          <p:nvSpPr>
            <p:cNvPr name="Freeform 23" id="23"/>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4" id="24"/>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25" id="25"/>
          <p:cNvSpPr txBox="true"/>
          <p:nvPr/>
        </p:nvSpPr>
        <p:spPr>
          <a:xfrm rot="0">
            <a:off x="6772602" y="6000583"/>
            <a:ext cx="890134" cy="447065"/>
          </a:xfrm>
          <a:prstGeom prst="rect">
            <a:avLst/>
          </a:prstGeom>
        </p:spPr>
        <p:txBody>
          <a:bodyPr anchor="t" rtlCol="false" tIns="0" lIns="0" bIns="0" rIns="0">
            <a:spAutoFit/>
          </a:bodyPr>
          <a:lstStyle/>
          <a:p>
            <a:pPr algn="ctr" marL="0" indent="0" lvl="0">
              <a:lnSpc>
                <a:spcPts val="3708"/>
              </a:lnSpc>
              <a:spcBef>
                <a:spcPct val="0"/>
              </a:spcBef>
            </a:pPr>
          </a:p>
        </p:txBody>
      </p:sp>
      <p:grpSp>
        <p:nvGrpSpPr>
          <p:cNvPr name="Group 26" id="26"/>
          <p:cNvGrpSpPr/>
          <p:nvPr/>
        </p:nvGrpSpPr>
        <p:grpSpPr>
          <a:xfrm rot="0">
            <a:off x="6318689" y="6871061"/>
            <a:ext cx="1797961" cy="771525"/>
            <a:chOff x="0" y="0"/>
            <a:chExt cx="947074" cy="406400"/>
          </a:xfrm>
        </p:grpSpPr>
        <p:sp>
          <p:nvSpPr>
            <p:cNvPr name="Freeform 27" id="27"/>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8" id="28"/>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29" id="29"/>
          <p:cNvSpPr txBox="true"/>
          <p:nvPr/>
        </p:nvSpPr>
        <p:spPr>
          <a:xfrm rot="0">
            <a:off x="6772602" y="7009494"/>
            <a:ext cx="890134" cy="447065"/>
          </a:xfrm>
          <a:prstGeom prst="rect">
            <a:avLst/>
          </a:prstGeom>
        </p:spPr>
        <p:txBody>
          <a:bodyPr anchor="t" rtlCol="false" tIns="0" lIns="0" bIns="0" rIns="0">
            <a:spAutoFit/>
          </a:bodyPr>
          <a:lstStyle/>
          <a:p>
            <a:pPr algn="ctr" marL="0" indent="0" lvl="0">
              <a:lnSpc>
                <a:spcPts val="3708"/>
              </a:lnSpc>
              <a:spcBef>
                <a:spcPct val="0"/>
              </a:spcBef>
            </a:pPr>
          </a:p>
        </p:txBody>
      </p:sp>
      <p:sp>
        <p:nvSpPr>
          <p:cNvPr name="TextBox 30" id="30"/>
          <p:cNvSpPr txBox="true"/>
          <p:nvPr/>
        </p:nvSpPr>
        <p:spPr>
          <a:xfrm rot="0">
            <a:off x="2458983" y="4991673"/>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Faster Evacuation Times</a:t>
            </a:r>
          </a:p>
        </p:txBody>
      </p:sp>
      <p:sp>
        <p:nvSpPr>
          <p:cNvPr name="TextBox 31" id="31"/>
          <p:cNvSpPr txBox="true"/>
          <p:nvPr/>
        </p:nvSpPr>
        <p:spPr>
          <a:xfrm rot="0">
            <a:off x="2458983" y="6000583"/>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Hazard-Aware Routing</a:t>
            </a:r>
          </a:p>
        </p:txBody>
      </p:sp>
      <p:sp>
        <p:nvSpPr>
          <p:cNvPr name="TextBox 32" id="32"/>
          <p:cNvSpPr txBox="true"/>
          <p:nvPr/>
        </p:nvSpPr>
        <p:spPr>
          <a:xfrm rot="0">
            <a:off x="2458983" y="7009494"/>
            <a:ext cx="415611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Reduced Congestion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10517729">
            <a:off x="-2903692" y="-84714"/>
            <a:ext cx="10371714" cy="1037171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684214" y="1661165"/>
            <a:ext cx="7568451" cy="6262893"/>
          </a:xfrm>
          <a:custGeom>
            <a:avLst/>
            <a:gdLst/>
            <a:ahLst/>
            <a:cxnLst/>
            <a:rect r="r" b="b" t="t" l="l"/>
            <a:pathLst>
              <a:path h="6262893" w="7568451">
                <a:moveTo>
                  <a:pt x="0" y="0"/>
                </a:moveTo>
                <a:lnTo>
                  <a:pt x="7568451" y="0"/>
                </a:lnTo>
                <a:lnTo>
                  <a:pt x="7568451" y="6262893"/>
                </a:lnTo>
                <a:lnTo>
                  <a:pt x="0" y="6262893"/>
                </a:lnTo>
                <a:lnTo>
                  <a:pt x="0" y="0"/>
                </a:lnTo>
                <a:close/>
              </a:path>
            </a:pathLst>
          </a:custGeom>
          <a:blipFill>
            <a:blip r:embed="rId2"/>
            <a:stretch>
              <a:fillRect l="0" t="0" r="0" b="0"/>
            </a:stretch>
          </a:blipFill>
        </p:spPr>
      </p:sp>
      <p:sp>
        <p:nvSpPr>
          <p:cNvPr name="Freeform 6" id="6"/>
          <p:cNvSpPr/>
          <p:nvPr/>
        </p:nvSpPr>
        <p:spPr>
          <a:xfrm flipH="false" flipV="false" rot="0">
            <a:off x="269554" y="3451724"/>
            <a:ext cx="6435224" cy="4022015"/>
          </a:xfrm>
          <a:custGeom>
            <a:avLst/>
            <a:gdLst/>
            <a:ahLst/>
            <a:cxnLst/>
            <a:rect r="r" b="b" t="t" l="l"/>
            <a:pathLst>
              <a:path h="4022015" w="6435224">
                <a:moveTo>
                  <a:pt x="0" y="0"/>
                </a:moveTo>
                <a:lnTo>
                  <a:pt x="6435224" y="0"/>
                </a:lnTo>
                <a:lnTo>
                  <a:pt x="6435224" y="4022015"/>
                </a:lnTo>
                <a:lnTo>
                  <a:pt x="0" y="4022015"/>
                </a:lnTo>
                <a:lnTo>
                  <a:pt x="0" y="0"/>
                </a:lnTo>
                <a:close/>
              </a:path>
            </a:pathLst>
          </a:custGeom>
          <a:blipFill>
            <a:blip r:embed="rId3"/>
            <a:stretch>
              <a:fillRect l="0" t="0" r="0" b="0"/>
            </a:stretch>
          </a:blipFill>
        </p:spPr>
      </p:sp>
      <p:grpSp>
        <p:nvGrpSpPr>
          <p:cNvPr name="Group 7" id="7"/>
          <p:cNvGrpSpPr/>
          <p:nvPr/>
        </p:nvGrpSpPr>
        <p:grpSpPr>
          <a:xfrm rot="0">
            <a:off x="8194870" y="4697604"/>
            <a:ext cx="6389629" cy="771525"/>
            <a:chOff x="0" y="0"/>
            <a:chExt cx="3365731" cy="406400"/>
          </a:xfrm>
        </p:grpSpPr>
        <p:sp>
          <p:nvSpPr>
            <p:cNvPr name="Freeform 8" id="8"/>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9" id="9"/>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sp>
        <p:nvSpPr>
          <p:cNvPr name="TextBox 10" id="10"/>
          <p:cNvSpPr txBox="true"/>
          <p:nvPr/>
        </p:nvSpPr>
        <p:spPr>
          <a:xfrm rot="0">
            <a:off x="16070360" y="8863664"/>
            <a:ext cx="1188940" cy="231753"/>
          </a:xfrm>
          <a:prstGeom prst="rect">
            <a:avLst/>
          </a:prstGeom>
        </p:spPr>
        <p:txBody>
          <a:bodyPr anchor="t" rtlCol="false" tIns="0" lIns="0" bIns="0" rIns="0">
            <a:spAutoFit/>
          </a:bodyPr>
          <a:lstStyle/>
          <a:p>
            <a:pPr algn="l" marL="0" indent="0" lvl="0">
              <a:lnSpc>
                <a:spcPts val="1926"/>
              </a:lnSpc>
              <a:spcBef>
                <a:spcPct val="0"/>
              </a:spcBef>
            </a:pPr>
            <a:r>
              <a:rPr lang="en-US" sz="1375" spc="-63">
                <a:solidFill>
                  <a:srgbClr val="EBF5FE"/>
                </a:solidFill>
                <a:latin typeface="Garet"/>
                <a:ea typeface="Garet"/>
                <a:cs typeface="Garet"/>
                <a:sym typeface="Garet"/>
              </a:rPr>
              <a:t>page 016</a:t>
            </a:r>
          </a:p>
        </p:txBody>
      </p:sp>
      <p:sp>
        <p:nvSpPr>
          <p:cNvPr name="TextBox 11" id="11"/>
          <p:cNvSpPr txBox="true"/>
          <p:nvPr/>
        </p:nvSpPr>
        <p:spPr>
          <a:xfrm rot="0">
            <a:off x="8194870" y="1983266"/>
            <a:ext cx="5620038" cy="1281896"/>
          </a:xfrm>
          <a:prstGeom prst="rect">
            <a:avLst/>
          </a:prstGeom>
        </p:spPr>
        <p:txBody>
          <a:bodyPr anchor="t" rtlCol="false" tIns="0" lIns="0" bIns="0" rIns="0">
            <a:spAutoFit/>
          </a:bodyPr>
          <a:lstStyle/>
          <a:p>
            <a:pPr algn="l" marL="0" indent="0" lvl="0">
              <a:lnSpc>
                <a:spcPts val="10566"/>
              </a:lnSpc>
              <a:spcBef>
                <a:spcPct val="0"/>
              </a:spcBef>
            </a:pPr>
            <a:r>
              <a:rPr lang="en-US" sz="7547" spc="-347">
                <a:solidFill>
                  <a:srgbClr val="EBF5FE"/>
                </a:solidFill>
                <a:latin typeface="Garet"/>
                <a:ea typeface="Garet"/>
                <a:cs typeface="Garet"/>
                <a:sym typeface="Garet"/>
              </a:rPr>
              <a:t>PRACTICAL</a:t>
            </a:r>
          </a:p>
        </p:txBody>
      </p:sp>
      <p:sp>
        <p:nvSpPr>
          <p:cNvPr name="TextBox 12" id="12"/>
          <p:cNvSpPr txBox="true"/>
          <p:nvPr/>
        </p:nvSpPr>
        <p:spPr>
          <a:xfrm rot="0">
            <a:off x="8194870" y="2904044"/>
            <a:ext cx="8002468" cy="1281896"/>
          </a:xfrm>
          <a:prstGeom prst="rect">
            <a:avLst/>
          </a:prstGeom>
        </p:spPr>
        <p:txBody>
          <a:bodyPr anchor="t" rtlCol="false" tIns="0" lIns="0" bIns="0" rIns="0">
            <a:spAutoFit/>
          </a:bodyPr>
          <a:lstStyle/>
          <a:p>
            <a:pPr algn="l" marL="0" indent="0" lvl="0">
              <a:lnSpc>
                <a:spcPts val="10566"/>
              </a:lnSpc>
              <a:spcBef>
                <a:spcPct val="0"/>
              </a:spcBef>
            </a:pPr>
            <a:r>
              <a:rPr lang="en-US" b="true" sz="7547" spc="-347">
                <a:solidFill>
                  <a:srgbClr val="EBF5FE"/>
                </a:solidFill>
                <a:latin typeface="Garet Bold"/>
                <a:ea typeface="Garet Bold"/>
                <a:cs typeface="Garet Bold"/>
                <a:sym typeface="Garet Bold"/>
              </a:rPr>
              <a:t>APPLICATIONS</a:t>
            </a:r>
          </a:p>
        </p:txBody>
      </p:sp>
      <p:grpSp>
        <p:nvGrpSpPr>
          <p:cNvPr name="Group 13" id="13"/>
          <p:cNvGrpSpPr/>
          <p:nvPr/>
        </p:nvGrpSpPr>
        <p:grpSpPr>
          <a:xfrm rot="0">
            <a:off x="8194870" y="5706515"/>
            <a:ext cx="6389629" cy="771525"/>
            <a:chOff x="0" y="0"/>
            <a:chExt cx="3365731" cy="406400"/>
          </a:xfrm>
        </p:grpSpPr>
        <p:sp>
          <p:nvSpPr>
            <p:cNvPr name="Freeform 14" id="14"/>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5" id="15"/>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6" id="16"/>
          <p:cNvGrpSpPr/>
          <p:nvPr/>
        </p:nvGrpSpPr>
        <p:grpSpPr>
          <a:xfrm rot="0">
            <a:off x="8194870" y="6715425"/>
            <a:ext cx="6389629" cy="771525"/>
            <a:chOff x="0" y="0"/>
            <a:chExt cx="3365731" cy="406400"/>
          </a:xfrm>
        </p:grpSpPr>
        <p:sp>
          <p:nvSpPr>
            <p:cNvPr name="Freeform 17" id="17"/>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8" id="18"/>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grpSp>
        <p:nvGrpSpPr>
          <p:cNvPr name="Group 19" id="19"/>
          <p:cNvGrpSpPr/>
          <p:nvPr/>
        </p:nvGrpSpPr>
        <p:grpSpPr>
          <a:xfrm rot="0">
            <a:off x="8194870" y="7724335"/>
            <a:ext cx="6389629" cy="771525"/>
            <a:chOff x="0" y="0"/>
            <a:chExt cx="3365731" cy="406400"/>
          </a:xfrm>
        </p:grpSpPr>
        <p:sp>
          <p:nvSpPr>
            <p:cNvPr name="Freeform 20" id="20"/>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21" id="21"/>
            <p:cNvSpPr txBox="true"/>
            <p:nvPr/>
          </p:nvSpPr>
          <p:spPr>
            <a:xfrm>
              <a:off x="0" y="-28575"/>
              <a:ext cx="3365731" cy="434975"/>
            </a:xfrm>
            <a:prstGeom prst="rect">
              <a:avLst/>
            </a:prstGeom>
          </p:spPr>
          <p:txBody>
            <a:bodyPr anchor="ctr" rtlCol="false" tIns="50800" lIns="50800" bIns="50800" rIns="50800"/>
            <a:lstStyle/>
            <a:p>
              <a:pPr algn="ctr" marL="0" indent="0" lvl="0">
                <a:lnSpc>
                  <a:spcPts val="2487"/>
                </a:lnSpc>
              </a:pPr>
            </a:p>
          </p:txBody>
        </p:sp>
      </p:grpSp>
      <p:sp>
        <p:nvSpPr>
          <p:cNvPr name="TextBox 22" id="22"/>
          <p:cNvSpPr txBox="true"/>
          <p:nvPr/>
        </p:nvSpPr>
        <p:spPr>
          <a:xfrm rot="0">
            <a:off x="8754640" y="4834945"/>
            <a:ext cx="327256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Shopping Malls</a:t>
            </a:r>
          </a:p>
        </p:txBody>
      </p:sp>
      <p:sp>
        <p:nvSpPr>
          <p:cNvPr name="TextBox 23" id="23"/>
          <p:cNvSpPr txBox="true"/>
          <p:nvPr/>
        </p:nvSpPr>
        <p:spPr>
          <a:xfrm rot="0">
            <a:off x="8754640" y="5844947"/>
            <a:ext cx="327256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Airports &amp; Stations</a:t>
            </a:r>
          </a:p>
        </p:txBody>
      </p:sp>
      <p:sp>
        <p:nvSpPr>
          <p:cNvPr name="TextBox 24" id="24"/>
          <p:cNvSpPr txBox="true"/>
          <p:nvPr/>
        </p:nvSpPr>
        <p:spPr>
          <a:xfrm rot="0">
            <a:off x="8754640" y="6859040"/>
            <a:ext cx="3272563"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Hospitals &amp; Schools</a:t>
            </a:r>
          </a:p>
        </p:txBody>
      </p:sp>
      <p:sp>
        <p:nvSpPr>
          <p:cNvPr name="TextBox 25" id="25"/>
          <p:cNvSpPr txBox="true"/>
          <p:nvPr/>
        </p:nvSpPr>
        <p:spPr>
          <a:xfrm rot="0">
            <a:off x="8754640" y="7853093"/>
            <a:ext cx="3651228" cy="447065"/>
          </a:xfrm>
          <a:prstGeom prst="rect">
            <a:avLst/>
          </a:prstGeom>
        </p:spPr>
        <p:txBody>
          <a:bodyPr anchor="t" rtlCol="false" tIns="0" lIns="0" bIns="0" rIns="0">
            <a:spAutoFit/>
          </a:bodyPr>
          <a:lstStyle/>
          <a:p>
            <a:pPr algn="l" marL="0" indent="0" lvl="0">
              <a:lnSpc>
                <a:spcPts val="3708"/>
              </a:lnSpc>
              <a:spcBef>
                <a:spcPct val="0"/>
              </a:spcBef>
            </a:pPr>
            <a:r>
              <a:rPr lang="en-US" b="true" sz="2649" spc="-121">
                <a:solidFill>
                  <a:srgbClr val="EBF5FE"/>
                </a:solidFill>
                <a:latin typeface="Garet Bold"/>
                <a:ea typeface="Garet Bold"/>
                <a:cs typeface="Garet Bold"/>
                <a:sym typeface="Garet Bold"/>
              </a:rPr>
              <a:t>Smart City Systems</a:t>
            </a:r>
          </a:p>
        </p:txBody>
      </p:sp>
      <p:grpSp>
        <p:nvGrpSpPr>
          <p:cNvPr name="Group 26" id="26"/>
          <p:cNvGrpSpPr/>
          <p:nvPr/>
        </p:nvGrpSpPr>
        <p:grpSpPr>
          <a:xfrm rot="0">
            <a:off x="12786539" y="4696513"/>
            <a:ext cx="1797961" cy="771525"/>
            <a:chOff x="0" y="0"/>
            <a:chExt cx="947074" cy="406400"/>
          </a:xfrm>
        </p:grpSpPr>
        <p:sp>
          <p:nvSpPr>
            <p:cNvPr name="Freeform 27" id="27"/>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8" id="28"/>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grpSp>
        <p:nvGrpSpPr>
          <p:cNvPr name="Group 29" id="29"/>
          <p:cNvGrpSpPr/>
          <p:nvPr/>
        </p:nvGrpSpPr>
        <p:grpSpPr>
          <a:xfrm rot="0">
            <a:off x="12786539" y="5705775"/>
            <a:ext cx="1797961" cy="771525"/>
            <a:chOff x="0" y="0"/>
            <a:chExt cx="947074" cy="406400"/>
          </a:xfrm>
        </p:grpSpPr>
        <p:sp>
          <p:nvSpPr>
            <p:cNvPr name="Freeform 30" id="30"/>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1" id="31"/>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grpSp>
        <p:nvGrpSpPr>
          <p:cNvPr name="Group 32" id="32"/>
          <p:cNvGrpSpPr/>
          <p:nvPr/>
        </p:nvGrpSpPr>
        <p:grpSpPr>
          <a:xfrm rot="0">
            <a:off x="12786539" y="6715037"/>
            <a:ext cx="1797961" cy="771525"/>
            <a:chOff x="0" y="0"/>
            <a:chExt cx="947074" cy="406400"/>
          </a:xfrm>
        </p:grpSpPr>
        <p:sp>
          <p:nvSpPr>
            <p:cNvPr name="Freeform 33" id="33"/>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4" id="34"/>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grpSp>
        <p:nvGrpSpPr>
          <p:cNvPr name="Group 35" id="35"/>
          <p:cNvGrpSpPr/>
          <p:nvPr/>
        </p:nvGrpSpPr>
        <p:grpSpPr>
          <a:xfrm rot="0">
            <a:off x="12786539" y="7724300"/>
            <a:ext cx="1797961" cy="771525"/>
            <a:chOff x="0" y="0"/>
            <a:chExt cx="947074" cy="406400"/>
          </a:xfrm>
        </p:grpSpPr>
        <p:sp>
          <p:nvSpPr>
            <p:cNvPr name="Freeform 36" id="36"/>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7" id="37"/>
            <p:cNvSpPr txBox="true"/>
            <p:nvPr/>
          </p:nvSpPr>
          <p:spPr>
            <a:xfrm>
              <a:off x="0" y="-28575"/>
              <a:ext cx="947074" cy="434975"/>
            </a:xfrm>
            <a:prstGeom prst="rect">
              <a:avLst/>
            </a:prstGeom>
          </p:spPr>
          <p:txBody>
            <a:bodyPr anchor="ctr" rtlCol="false" tIns="50800" lIns="50800" bIns="50800" rIns="50800"/>
            <a:lstStyle/>
            <a:p>
              <a:pPr algn="ctr" marL="0" indent="0" lvl="0">
                <a:lnSpc>
                  <a:spcPts val="2487"/>
                </a:lnSpc>
              </a:pPr>
            </a:p>
          </p:txBody>
        </p:sp>
      </p:grpSp>
      <p:sp>
        <p:nvSpPr>
          <p:cNvPr name="TextBox 38" id="38"/>
          <p:cNvSpPr txBox="true"/>
          <p:nvPr/>
        </p:nvSpPr>
        <p:spPr>
          <a:xfrm rot="0">
            <a:off x="13240452" y="4834945"/>
            <a:ext cx="890134" cy="357445"/>
          </a:xfrm>
          <a:prstGeom prst="rect">
            <a:avLst/>
          </a:prstGeom>
        </p:spPr>
        <p:txBody>
          <a:bodyPr anchor="t" rtlCol="false" tIns="0" lIns="0" bIns="0" rIns="0">
            <a:spAutoFit/>
          </a:bodyPr>
          <a:lstStyle/>
          <a:p>
            <a:pPr algn="ctr" marL="0" indent="0" lvl="0">
              <a:lnSpc>
                <a:spcPts val="2873"/>
              </a:lnSpc>
              <a:spcBef>
                <a:spcPct val="0"/>
              </a:spcBef>
            </a:pPr>
            <a:r>
              <a:rPr lang="en-US" b="true" sz="2052" spc="-94">
                <a:solidFill>
                  <a:srgbClr val="EBF5FE"/>
                </a:solidFill>
                <a:latin typeface="Garet Bold"/>
                <a:ea typeface="Garet Bold"/>
                <a:cs typeface="Garet Bold"/>
                <a:sym typeface="Garet Bold"/>
              </a:rPr>
              <a:t>01.</a:t>
            </a:r>
          </a:p>
        </p:txBody>
      </p:sp>
      <p:sp>
        <p:nvSpPr>
          <p:cNvPr name="TextBox 39" id="39"/>
          <p:cNvSpPr txBox="true"/>
          <p:nvPr/>
        </p:nvSpPr>
        <p:spPr>
          <a:xfrm rot="0">
            <a:off x="13240452" y="5844208"/>
            <a:ext cx="890134" cy="357445"/>
          </a:xfrm>
          <a:prstGeom prst="rect">
            <a:avLst/>
          </a:prstGeom>
        </p:spPr>
        <p:txBody>
          <a:bodyPr anchor="t" rtlCol="false" tIns="0" lIns="0" bIns="0" rIns="0">
            <a:spAutoFit/>
          </a:bodyPr>
          <a:lstStyle/>
          <a:p>
            <a:pPr algn="ctr" marL="0" indent="0" lvl="0">
              <a:lnSpc>
                <a:spcPts val="2873"/>
              </a:lnSpc>
              <a:spcBef>
                <a:spcPct val="0"/>
              </a:spcBef>
            </a:pPr>
            <a:r>
              <a:rPr lang="en-US" b="true" sz="2052" spc="-94">
                <a:solidFill>
                  <a:srgbClr val="EBF5FE"/>
                </a:solidFill>
                <a:latin typeface="Garet Bold"/>
                <a:ea typeface="Garet Bold"/>
                <a:cs typeface="Garet Bold"/>
                <a:sym typeface="Garet Bold"/>
              </a:rPr>
              <a:t>02.</a:t>
            </a:r>
          </a:p>
        </p:txBody>
      </p:sp>
      <p:sp>
        <p:nvSpPr>
          <p:cNvPr name="TextBox 40" id="40"/>
          <p:cNvSpPr txBox="true"/>
          <p:nvPr/>
        </p:nvSpPr>
        <p:spPr>
          <a:xfrm rot="0">
            <a:off x="13240452" y="6849515"/>
            <a:ext cx="890134" cy="357445"/>
          </a:xfrm>
          <a:prstGeom prst="rect">
            <a:avLst/>
          </a:prstGeom>
        </p:spPr>
        <p:txBody>
          <a:bodyPr anchor="t" rtlCol="false" tIns="0" lIns="0" bIns="0" rIns="0">
            <a:spAutoFit/>
          </a:bodyPr>
          <a:lstStyle/>
          <a:p>
            <a:pPr algn="ctr" marL="0" indent="0" lvl="0">
              <a:lnSpc>
                <a:spcPts val="2873"/>
              </a:lnSpc>
              <a:spcBef>
                <a:spcPct val="0"/>
              </a:spcBef>
            </a:pPr>
            <a:r>
              <a:rPr lang="en-US" b="true" sz="2052" spc="-94">
                <a:solidFill>
                  <a:srgbClr val="EBF5FE"/>
                </a:solidFill>
                <a:latin typeface="Garet Bold"/>
                <a:ea typeface="Garet Bold"/>
                <a:cs typeface="Garet Bold"/>
                <a:sym typeface="Garet Bold"/>
              </a:rPr>
              <a:t>03.</a:t>
            </a:r>
          </a:p>
        </p:txBody>
      </p:sp>
      <p:sp>
        <p:nvSpPr>
          <p:cNvPr name="TextBox 41" id="41"/>
          <p:cNvSpPr txBox="true"/>
          <p:nvPr/>
        </p:nvSpPr>
        <p:spPr>
          <a:xfrm rot="0">
            <a:off x="13240452" y="7853093"/>
            <a:ext cx="890134" cy="357445"/>
          </a:xfrm>
          <a:prstGeom prst="rect">
            <a:avLst/>
          </a:prstGeom>
        </p:spPr>
        <p:txBody>
          <a:bodyPr anchor="t" rtlCol="false" tIns="0" lIns="0" bIns="0" rIns="0">
            <a:spAutoFit/>
          </a:bodyPr>
          <a:lstStyle/>
          <a:p>
            <a:pPr algn="ctr" marL="0" indent="0" lvl="0">
              <a:lnSpc>
                <a:spcPts val="2873"/>
              </a:lnSpc>
              <a:spcBef>
                <a:spcPct val="0"/>
              </a:spcBef>
            </a:pPr>
            <a:r>
              <a:rPr lang="en-US" b="true" sz="2052" spc="-94">
                <a:solidFill>
                  <a:srgbClr val="EBF5FE"/>
                </a:solidFill>
                <a:latin typeface="Garet Bold"/>
                <a:ea typeface="Garet Bold"/>
                <a:cs typeface="Garet Bold"/>
                <a:sym typeface="Garet Bold"/>
              </a:rPr>
              <a:t>04.</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548354">
            <a:off x="10695521" y="-42357"/>
            <a:ext cx="10371714" cy="1037171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16784291" y="901942"/>
            <a:ext cx="475009" cy="475009"/>
          </a:xfrm>
          <a:custGeom>
            <a:avLst/>
            <a:gdLst/>
            <a:ahLst/>
            <a:cxnLst/>
            <a:rect r="r" b="b" t="t" l="l"/>
            <a:pathLst>
              <a:path h="475009" w="475009">
                <a:moveTo>
                  <a:pt x="0" y="0"/>
                </a:moveTo>
                <a:lnTo>
                  <a:pt x="475009" y="0"/>
                </a:lnTo>
                <a:lnTo>
                  <a:pt x="475009" y="475009"/>
                </a:lnTo>
                <a:lnTo>
                  <a:pt x="0" y="4750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503031" y="1598122"/>
            <a:ext cx="4310995" cy="4328343"/>
          </a:xfrm>
          <a:custGeom>
            <a:avLst/>
            <a:gdLst/>
            <a:ahLst/>
            <a:cxnLst/>
            <a:rect r="r" b="b" t="t" l="l"/>
            <a:pathLst>
              <a:path h="4328343" w="4310995">
                <a:moveTo>
                  <a:pt x="0" y="0"/>
                </a:moveTo>
                <a:lnTo>
                  <a:pt x="4310995" y="0"/>
                </a:lnTo>
                <a:lnTo>
                  <a:pt x="4310995" y="4328343"/>
                </a:lnTo>
                <a:lnTo>
                  <a:pt x="0" y="4328343"/>
                </a:lnTo>
                <a:lnTo>
                  <a:pt x="0" y="0"/>
                </a:lnTo>
                <a:close/>
              </a:path>
            </a:pathLst>
          </a:custGeom>
          <a:blipFill>
            <a:blip r:embed="rId5"/>
            <a:stretch>
              <a:fillRect l="0" t="0" r="0" b="0"/>
            </a:stretch>
          </a:blipFill>
        </p:spPr>
      </p:sp>
      <p:sp>
        <p:nvSpPr>
          <p:cNvPr name="Freeform 8" id="8"/>
          <p:cNvSpPr/>
          <p:nvPr/>
        </p:nvSpPr>
        <p:spPr>
          <a:xfrm flipH="false" flipV="false" rot="0">
            <a:off x="1193556" y="3577085"/>
            <a:ext cx="6393051" cy="4123518"/>
          </a:xfrm>
          <a:custGeom>
            <a:avLst/>
            <a:gdLst/>
            <a:ahLst/>
            <a:cxnLst/>
            <a:rect r="r" b="b" t="t" l="l"/>
            <a:pathLst>
              <a:path h="4123518" w="6393051">
                <a:moveTo>
                  <a:pt x="0" y="0"/>
                </a:moveTo>
                <a:lnTo>
                  <a:pt x="6393051" y="0"/>
                </a:lnTo>
                <a:lnTo>
                  <a:pt x="6393051" y="4123517"/>
                </a:lnTo>
                <a:lnTo>
                  <a:pt x="0" y="4123517"/>
                </a:lnTo>
                <a:lnTo>
                  <a:pt x="0" y="0"/>
                </a:lnTo>
                <a:close/>
              </a:path>
            </a:pathLst>
          </a:custGeom>
          <a:blipFill>
            <a:blip r:embed="rId6"/>
            <a:stretch>
              <a:fillRect l="0" t="0" r="0" b="0"/>
            </a:stretch>
          </a:blipFill>
        </p:spPr>
      </p:sp>
      <p:sp>
        <p:nvSpPr>
          <p:cNvPr name="Freeform 9" id="9"/>
          <p:cNvSpPr/>
          <p:nvPr/>
        </p:nvSpPr>
        <p:spPr>
          <a:xfrm flipH="false" flipV="false" rot="0">
            <a:off x="-221176" y="2935648"/>
            <a:ext cx="4126249" cy="4104242"/>
          </a:xfrm>
          <a:custGeom>
            <a:avLst/>
            <a:gdLst/>
            <a:ahLst/>
            <a:cxnLst/>
            <a:rect r="r" b="b" t="t" l="l"/>
            <a:pathLst>
              <a:path h="4104242" w="4126249">
                <a:moveTo>
                  <a:pt x="0" y="0"/>
                </a:moveTo>
                <a:lnTo>
                  <a:pt x="4126249" y="0"/>
                </a:lnTo>
                <a:lnTo>
                  <a:pt x="4126249" y="4104242"/>
                </a:lnTo>
                <a:lnTo>
                  <a:pt x="0" y="4104242"/>
                </a:lnTo>
                <a:lnTo>
                  <a:pt x="0" y="0"/>
                </a:lnTo>
                <a:close/>
              </a:path>
            </a:pathLst>
          </a:custGeom>
          <a:blipFill>
            <a:blip r:embed="rId7"/>
            <a:stretch>
              <a:fillRect l="0" t="0" r="0" b="0"/>
            </a:stretch>
          </a:blipFill>
        </p:spPr>
      </p:sp>
      <p:sp>
        <p:nvSpPr>
          <p:cNvPr name="TextBox 10" id="10"/>
          <p:cNvSpPr txBox="true"/>
          <p:nvPr/>
        </p:nvSpPr>
        <p:spPr>
          <a:xfrm rot="0">
            <a:off x="16197338" y="9497491"/>
            <a:ext cx="1188940" cy="290868"/>
          </a:xfrm>
          <a:prstGeom prst="rect">
            <a:avLst/>
          </a:prstGeom>
        </p:spPr>
        <p:txBody>
          <a:bodyPr anchor="t" rtlCol="false" tIns="0" lIns="0" bIns="0" rIns="0">
            <a:spAutoFit/>
          </a:bodyPr>
          <a:lstStyle/>
          <a:p>
            <a:pPr algn="l" marL="0" indent="0" lvl="0">
              <a:lnSpc>
                <a:spcPts val="2342"/>
              </a:lnSpc>
              <a:spcBef>
                <a:spcPct val="0"/>
              </a:spcBef>
            </a:pPr>
            <a:r>
              <a:rPr lang="en-US" sz="1673" spc="-76">
                <a:solidFill>
                  <a:srgbClr val="EBF5FE"/>
                </a:solidFill>
                <a:latin typeface="Garet"/>
                <a:ea typeface="Garet"/>
                <a:cs typeface="Garet"/>
                <a:sym typeface="Garet"/>
              </a:rPr>
              <a:t>page 18</a:t>
            </a:r>
          </a:p>
        </p:txBody>
      </p:sp>
      <p:sp>
        <p:nvSpPr>
          <p:cNvPr name="TextBox 11" id="11"/>
          <p:cNvSpPr txBox="true"/>
          <p:nvPr/>
        </p:nvSpPr>
        <p:spPr>
          <a:xfrm rot="0">
            <a:off x="8194870" y="1455247"/>
            <a:ext cx="7875490" cy="1281896"/>
          </a:xfrm>
          <a:prstGeom prst="rect">
            <a:avLst/>
          </a:prstGeom>
        </p:spPr>
        <p:txBody>
          <a:bodyPr anchor="t" rtlCol="false" tIns="0" lIns="0" bIns="0" rIns="0">
            <a:spAutoFit/>
          </a:bodyPr>
          <a:lstStyle/>
          <a:p>
            <a:pPr algn="l" marL="0" indent="0" lvl="0">
              <a:lnSpc>
                <a:spcPts val="10566"/>
              </a:lnSpc>
              <a:spcBef>
                <a:spcPct val="0"/>
              </a:spcBef>
            </a:pPr>
            <a:r>
              <a:rPr lang="en-US" sz="7547" spc="-347">
                <a:solidFill>
                  <a:srgbClr val="EBF5FE"/>
                </a:solidFill>
                <a:latin typeface="Garet"/>
                <a:ea typeface="Garet"/>
                <a:cs typeface="Garet"/>
                <a:sym typeface="Garet"/>
              </a:rPr>
              <a:t>PROJECT</a:t>
            </a:r>
          </a:p>
        </p:txBody>
      </p:sp>
      <p:sp>
        <p:nvSpPr>
          <p:cNvPr name="TextBox 12" id="12"/>
          <p:cNvSpPr txBox="true"/>
          <p:nvPr/>
        </p:nvSpPr>
        <p:spPr>
          <a:xfrm rot="0">
            <a:off x="8194870" y="2594268"/>
            <a:ext cx="8002468" cy="1281896"/>
          </a:xfrm>
          <a:prstGeom prst="rect">
            <a:avLst/>
          </a:prstGeom>
        </p:spPr>
        <p:txBody>
          <a:bodyPr anchor="t" rtlCol="false" tIns="0" lIns="0" bIns="0" rIns="0">
            <a:spAutoFit/>
          </a:bodyPr>
          <a:lstStyle/>
          <a:p>
            <a:pPr algn="l" marL="0" indent="0" lvl="0">
              <a:lnSpc>
                <a:spcPts val="10566"/>
              </a:lnSpc>
              <a:spcBef>
                <a:spcPct val="0"/>
              </a:spcBef>
            </a:pPr>
            <a:r>
              <a:rPr lang="en-US" b="true" sz="7547" spc="-347">
                <a:solidFill>
                  <a:srgbClr val="EBF5FE"/>
                </a:solidFill>
                <a:latin typeface="Garet Bold"/>
                <a:ea typeface="Garet Bold"/>
                <a:cs typeface="Garet Bold"/>
                <a:sym typeface="Garet Bold"/>
              </a:rPr>
              <a:t>CONCLUSION</a:t>
            </a:r>
          </a:p>
        </p:txBody>
      </p:sp>
      <p:sp>
        <p:nvSpPr>
          <p:cNvPr name="TextBox 13" id="13"/>
          <p:cNvSpPr txBox="true"/>
          <p:nvPr/>
        </p:nvSpPr>
        <p:spPr>
          <a:xfrm rot="0">
            <a:off x="7957366" y="3927741"/>
            <a:ext cx="9064430" cy="4964497"/>
          </a:xfrm>
          <a:prstGeom prst="rect">
            <a:avLst/>
          </a:prstGeom>
        </p:spPr>
        <p:txBody>
          <a:bodyPr anchor="t" rtlCol="false" tIns="0" lIns="0" bIns="0" rIns="0">
            <a:spAutoFit/>
          </a:bodyPr>
          <a:lstStyle/>
          <a:p>
            <a:pPr algn="just" marL="0" indent="0" lvl="0">
              <a:lnSpc>
                <a:spcPts val="3661"/>
              </a:lnSpc>
              <a:spcBef>
                <a:spcPct val="0"/>
              </a:spcBef>
            </a:pPr>
            <a:r>
              <a:rPr lang="en-US" sz="2615" spc="-120">
                <a:solidFill>
                  <a:srgbClr val="EBF5FE"/>
                </a:solidFill>
                <a:latin typeface="Times New Roman"/>
                <a:ea typeface="Times New Roman"/>
                <a:cs typeface="Times New Roman"/>
                <a:sym typeface="Times New Roman"/>
              </a:rPr>
              <a:t>The Emergency Evacuation Path Planner demonstrates significant advancement in building safety technology. By combining real-time hazard detection with dynamic pathfinding algorithms (Dijkstra's, A*, BFS), the system addresses critical limitations of static evacuation approaches. Key achievements include adaptive route recalculation when exits become blocked, reduced evacuation times through intelligent path optimization, and enhanced occupant safety via hazard-aware routing. The graph-based building representation enables scalability across diverse environments from hospitals to airports. This intelligent system is ready for practical deployment, offering a robust solution that transforms emergency response from rigid predetermined routes to flexible, life-saving dynamic guidance.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10407285">
            <a:off x="3958143" y="-42357"/>
            <a:ext cx="10371714" cy="1037171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10407285">
            <a:off x="5363810" y="1434956"/>
            <a:ext cx="7560380" cy="756038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0" y="1858376"/>
            <a:ext cx="6442371" cy="6726915"/>
          </a:xfrm>
          <a:custGeom>
            <a:avLst/>
            <a:gdLst/>
            <a:ahLst/>
            <a:cxnLst/>
            <a:rect r="r" b="b" t="t" l="l"/>
            <a:pathLst>
              <a:path h="6726915" w="6442371">
                <a:moveTo>
                  <a:pt x="0" y="0"/>
                </a:moveTo>
                <a:lnTo>
                  <a:pt x="6442371" y="0"/>
                </a:lnTo>
                <a:lnTo>
                  <a:pt x="6442371" y="6726915"/>
                </a:lnTo>
                <a:lnTo>
                  <a:pt x="0" y="6726915"/>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4481023" y="3718978"/>
            <a:ext cx="9019115" cy="2065692"/>
          </a:xfrm>
          <a:prstGeom prst="rect">
            <a:avLst/>
          </a:prstGeom>
        </p:spPr>
        <p:txBody>
          <a:bodyPr anchor="t" rtlCol="false" tIns="0" lIns="0" bIns="0" rIns="0">
            <a:spAutoFit/>
          </a:bodyPr>
          <a:lstStyle/>
          <a:p>
            <a:pPr algn="ctr" marL="0" indent="0" lvl="0">
              <a:lnSpc>
                <a:spcPts val="16957"/>
              </a:lnSpc>
              <a:spcBef>
                <a:spcPct val="0"/>
              </a:spcBef>
            </a:pPr>
            <a:r>
              <a:rPr lang="en-US" sz="12112" spc="-557">
                <a:solidFill>
                  <a:srgbClr val="EBF5FE"/>
                </a:solidFill>
                <a:latin typeface="Garet"/>
                <a:ea typeface="Garet"/>
                <a:cs typeface="Garet"/>
                <a:sym typeface="Garet"/>
              </a:rPr>
              <a:t>THANK</a:t>
            </a:r>
          </a:p>
        </p:txBody>
      </p:sp>
      <p:sp>
        <p:nvSpPr>
          <p:cNvPr name="TextBox 10" id="10"/>
          <p:cNvSpPr txBox="true"/>
          <p:nvPr/>
        </p:nvSpPr>
        <p:spPr>
          <a:xfrm rot="0">
            <a:off x="4481023" y="5546546"/>
            <a:ext cx="9434292" cy="2159784"/>
          </a:xfrm>
          <a:prstGeom prst="rect">
            <a:avLst/>
          </a:prstGeom>
        </p:spPr>
        <p:txBody>
          <a:bodyPr anchor="t" rtlCol="false" tIns="0" lIns="0" bIns="0" rIns="0">
            <a:spAutoFit/>
          </a:bodyPr>
          <a:lstStyle/>
          <a:p>
            <a:pPr algn="ctr" marL="0" indent="0" lvl="0">
              <a:lnSpc>
                <a:spcPts val="17738"/>
              </a:lnSpc>
              <a:spcBef>
                <a:spcPct val="0"/>
              </a:spcBef>
            </a:pPr>
            <a:r>
              <a:rPr lang="en-US" b="true" sz="12670" spc="-582">
                <a:solidFill>
                  <a:srgbClr val="EBF5FE"/>
                </a:solidFill>
                <a:latin typeface="Garet Bold"/>
                <a:ea typeface="Garet Bold"/>
                <a:cs typeface="Garet Bold"/>
                <a:sym typeface="Garet Bold"/>
              </a:rPr>
              <a:t>YOU.</a:t>
            </a:r>
          </a:p>
        </p:txBody>
      </p:sp>
      <p:sp>
        <p:nvSpPr>
          <p:cNvPr name="Freeform 11" id="11"/>
          <p:cNvSpPr/>
          <p:nvPr/>
        </p:nvSpPr>
        <p:spPr>
          <a:xfrm flipH="true" flipV="false" rot="0">
            <a:off x="12361310" y="1699773"/>
            <a:ext cx="6442371" cy="6726915"/>
          </a:xfrm>
          <a:custGeom>
            <a:avLst/>
            <a:gdLst/>
            <a:ahLst/>
            <a:cxnLst/>
            <a:rect r="r" b="b" t="t" l="l"/>
            <a:pathLst>
              <a:path h="6726915" w="6442371">
                <a:moveTo>
                  <a:pt x="6442371" y="0"/>
                </a:moveTo>
                <a:lnTo>
                  <a:pt x="0" y="0"/>
                </a:lnTo>
                <a:lnTo>
                  <a:pt x="0" y="6726915"/>
                </a:lnTo>
                <a:lnTo>
                  <a:pt x="6442371" y="6726915"/>
                </a:lnTo>
                <a:lnTo>
                  <a:pt x="6442371"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DAHLKGdccQI</dc:identifier>
  <dcterms:modified xsi:type="dcterms:W3CDTF">2011-08-01T06:04:30Z</dcterms:modified>
  <cp:revision>1</cp:revision>
  <dc:title>Emergency Evacuation Path Planner</dc:title>
</cp:coreProperties>
</file>